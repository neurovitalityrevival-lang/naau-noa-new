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3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8976A"/>
          </a:solidFill>
          <a:ln w="12700">
            <a:solidFill>
              <a:srgbClr val="B8976A"/>
            </a:solidFill>
            <a:prstDash val="solid"/>
          </a:ln>
        </p:spPr>
      </p:sp>
      <p:sp>
        <p:nvSpPr>
          <p:cNvPr id="3" name="Shape 1"/>
          <p:cNvSpPr/>
          <p:nvPr/>
        </p:nvSpPr>
        <p:spPr>
          <a:xfrm>
            <a:off x="0" y="5079492"/>
            <a:ext cx="9144000" cy="64008"/>
          </a:xfrm>
          <a:prstGeom prst="rect">
            <a:avLst/>
          </a:prstGeom>
          <a:solidFill>
            <a:srgbClr val="B8976A"/>
          </a:solidFill>
          <a:ln w="12700">
            <a:solidFill>
              <a:srgbClr val="B8976A"/>
            </a:solidFill>
            <a:prstDash val="solid"/>
          </a:ln>
        </p:spPr>
      </p:sp>
      <p:sp>
        <p:nvSpPr>
          <p:cNvPr id="4" name="Text 2"/>
          <p:cNvSpPr/>
          <p:nvPr/>
        </p:nvSpPr>
        <p:spPr>
          <a:xfrm>
            <a:off x="457200" y="1005840"/>
            <a:ext cx="8229600"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MS Mincho" pitchFamily="34" charset="0"/>
                <a:ea typeface="MS Mincho" pitchFamily="34" charset="-122"/>
                <a:cs typeface="MS Mincho" pitchFamily="34" charset="-120"/>
              </a:rPr>
              <a:t>理想の結果を引き寄せる</a:t>
            </a:r>
            <a:endParaRPr lang="en-US" sz="3400" dirty="0"/>
          </a:p>
        </p:txBody>
      </p:sp>
      <p:sp>
        <p:nvSpPr>
          <p:cNvPr id="5" name="Text 3"/>
          <p:cNvSpPr/>
          <p:nvPr/>
        </p:nvSpPr>
        <p:spPr>
          <a:xfrm>
            <a:off x="457200" y="1783080"/>
            <a:ext cx="8229600" cy="1005840"/>
          </a:xfrm>
          <a:prstGeom prst="rect">
            <a:avLst/>
          </a:prstGeom>
          <a:noFill/>
          <a:ln/>
        </p:spPr>
        <p:txBody>
          <a:bodyPr wrap="square" lIns="0" tIns="0" rIns="0" bIns="0" rtlCol="0" anchor="ctr"/>
          <a:lstStyle/>
          <a:p>
            <a:pPr algn="ctr" indent="0" marL="0">
              <a:buNone/>
            </a:pPr>
            <a:r>
              <a:rPr lang="en-US" sz="5200" b="1" dirty="0">
                <a:solidFill>
                  <a:srgbClr val="E8C080"/>
                </a:solidFill>
                <a:latin typeface="MS Mincho" pitchFamily="34" charset="0"/>
                <a:ea typeface="MS Mincho" pitchFamily="34" charset="-122"/>
                <a:cs typeface="MS Mincho" pitchFamily="34" charset="-120"/>
              </a:rPr>
              <a:t>6つのフォーム</a:t>
            </a:r>
            <a:endParaRPr lang="en-US" sz="5200" dirty="0"/>
          </a:p>
        </p:txBody>
      </p:sp>
      <p:sp>
        <p:nvSpPr>
          <p:cNvPr id="6" name="Shape 4"/>
          <p:cNvSpPr/>
          <p:nvPr/>
        </p:nvSpPr>
        <p:spPr>
          <a:xfrm>
            <a:off x="2926080" y="2880360"/>
            <a:ext cx="3291840" cy="22860"/>
          </a:xfrm>
          <a:prstGeom prst="rect">
            <a:avLst/>
          </a:prstGeom>
          <a:solidFill>
            <a:srgbClr val="B8976A"/>
          </a:solidFill>
          <a:ln w="12700">
            <a:solidFill>
              <a:srgbClr val="B8976A"/>
            </a:solidFill>
            <a:prstDash val="solid"/>
          </a:ln>
        </p:spPr>
      </p:sp>
      <p:sp>
        <p:nvSpPr>
          <p:cNvPr id="7" name="Text 5"/>
          <p:cNvSpPr/>
          <p:nvPr/>
        </p:nvSpPr>
        <p:spPr>
          <a:xfrm>
            <a:off x="457200" y="2971800"/>
            <a:ext cx="8229600" cy="457200"/>
          </a:xfrm>
          <a:prstGeom prst="rect">
            <a:avLst/>
          </a:prstGeom>
          <a:noFill/>
          <a:ln/>
        </p:spPr>
        <p:txBody>
          <a:bodyPr wrap="square" lIns="0" tIns="0" rIns="0" bIns="0" rtlCol="0" anchor="ctr"/>
          <a:lstStyle/>
          <a:p>
            <a:pPr algn="ctr" indent="0" marL="0">
              <a:buNone/>
            </a:pPr>
            <a:r>
              <a:rPr lang="en-US" sz="1300" dirty="0">
                <a:solidFill>
                  <a:srgbClr val="B8976A"/>
                </a:solidFill>
                <a:latin typeface="MS Mincho" pitchFamily="34" charset="0"/>
                <a:ea typeface="MS Mincho" pitchFamily="34" charset="-122"/>
                <a:cs typeface="MS Mincho" pitchFamily="34" charset="-120"/>
              </a:rPr>
              <a:t>〜 本来の実力にアクセスするためのプログラム 〜</a:t>
            </a:r>
            <a:endParaRPr lang="en-US" sz="1300" dirty="0"/>
          </a:p>
        </p:txBody>
      </p:sp>
      <p:sp>
        <p:nvSpPr>
          <p:cNvPr id="8" name="Text 6"/>
          <p:cNvSpPr/>
          <p:nvPr/>
        </p:nvSpPr>
        <p:spPr>
          <a:xfrm>
            <a:off x="457200" y="4434840"/>
            <a:ext cx="8229600" cy="365760"/>
          </a:xfrm>
          <a:prstGeom prst="rect">
            <a:avLst/>
          </a:prstGeom>
          <a:noFill/>
          <a:ln/>
        </p:spPr>
        <p:txBody>
          <a:bodyPr wrap="square" lIns="0" tIns="0" rIns="0" bIns="0" rtlCol="0" anchor="ctr"/>
          <a:lstStyle/>
          <a:p>
            <a:pPr algn="ctr" indent="0" marL="0">
              <a:buNone/>
            </a:pPr>
            <a:r>
              <a:rPr lang="en-US" sz="1100" dirty="0">
                <a:solidFill>
                  <a:srgbClr val="B8976A"/>
                </a:solidFill>
                <a:latin typeface="Meiryo" pitchFamily="34" charset="0"/>
                <a:ea typeface="Meiryo" pitchFamily="34" charset="-122"/>
                <a:cs typeface="Meiryo" pitchFamily="34" charset="-120"/>
              </a:rPr>
              <a:t>Na'au Noa  |  小松 大将</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3A"/>
          </a:solidFill>
          <a:ln w="12700">
            <a:solidFill>
              <a:srgbClr val="1A3A3A"/>
            </a:solidFill>
            <a:prstDash val="solid"/>
          </a:ln>
        </p:spPr>
      </p:sp>
      <p:sp>
        <p:nvSpPr>
          <p:cNvPr id="3" name="Text 1"/>
          <p:cNvSpPr/>
          <p:nvPr/>
        </p:nvSpPr>
        <p:spPr>
          <a:xfrm>
            <a:off x="365760" y="0"/>
            <a:ext cx="7315200" cy="658368"/>
          </a:xfrm>
          <a:prstGeom prst="rect">
            <a:avLst/>
          </a:prstGeom>
          <a:noFill/>
          <a:ln/>
        </p:spPr>
        <p:txBody>
          <a:bodyPr wrap="square" lIns="0" tIns="0" rIns="0" bIns="0" rtlCol="0" anchor="ctr"/>
          <a:lstStyle/>
          <a:p>
            <a:pPr indent="0" marL="0">
              <a:buNone/>
            </a:pPr>
            <a:r>
              <a:rPr lang="en-US" sz="1800" b="1" dirty="0">
                <a:solidFill>
                  <a:srgbClr val="FFFFFF"/>
                </a:solidFill>
                <a:latin typeface="MS Mincho" pitchFamily="34" charset="0"/>
                <a:ea typeface="MS Mincho" pitchFamily="34" charset="-122"/>
                <a:cs typeface="MS Mincho" pitchFamily="34" charset="-120"/>
              </a:rPr>
              <a:t>コンセプト</a:t>
            </a:r>
            <a:endParaRPr lang="en-US" sz="1800" dirty="0"/>
          </a:p>
        </p:txBody>
      </p:sp>
      <p:sp>
        <p:nvSpPr>
          <p:cNvPr id="4" name="Text 2"/>
          <p:cNvSpPr/>
          <p:nvPr/>
        </p:nvSpPr>
        <p:spPr>
          <a:xfrm>
            <a:off x="6583680" y="0"/>
            <a:ext cx="2423160" cy="658368"/>
          </a:xfrm>
          <a:prstGeom prst="rect">
            <a:avLst/>
          </a:prstGeom>
          <a:noFill/>
          <a:ln/>
        </p:spPr>
        <p:txBody>
          <a:bodyPr wrap="square" lIns="0" tIns="0" rIns="0" bIns="0" rtlCol="0" anchor="ctr"/>
          <a:lstStyle/>
          <a:p>
            <a:pPr algn="r" indent="0" marL="0">
              <a:buNone/>
            </a:pPr>
            <a:r>
              <a:rPr lang="en-US" sz="800" dirty="0">
                <a:solidFill>
                  <a:srgbClr val="B8976A"/>
                </a:solidFill>
                <a:latin typeface="Meiryo" pitchFamily="34" charset="0"/>
                <a:ea typeface="Meiryo" pitchFamily="34" charset="-122"/>
                <a:cs typeface="Meiryo" pitchFamily="34" charset="-120"/>
              </a:rPr>
              <a:t>Na'au Noa | DAISUKE KOMATSU</a:t>
            </a:r>
            <a:endParaRPr lang="en-US" sz="800" dirty="0"/>
          </a:p>
        </p:txBody>
      </p:sp>
      <p:sp>
        <p:nvSpPr>
          <p:cNvPr id="5" name="Shape 3"/>
          <p:cNvSpPr/>
          <p:nvPr/>
        </p:nvSpPr>
        <p:spPr>
          <a:xfrm>
            <a:off x="0" y="658368"/>
            <a:ext cx="9144000" cy="36576"/>
          </a:xfrm>
          <a:prstGeom prst="rect">
            <a:avLst/>
          </a:prstGeom>
          <a:solidFill>
            <a:srgbClr val="B8976A"/>
          </a:solidFill>
          <a:ln w="12700">
            <a:solidFill>
              <a:srgbClr val="B8976A"/>
            </a:solidFill>
            <a:prstDash val="solid"/>
          </a:ln>
        </p:spPr>
      </p:sp>
      <p:sp>
        <p:nvSpPr>
          <p:cNvPr id="6" name="Shape 4"/>
          <p:cNvSpPr/>
          <p:nvPr/>
        </p:nvSpPr>
        <p:spPr>
          <a:xfrm>
            <a:off x="457200" y="868680"/>
            <a:ext cx="8229600" cy="868680"/>
          </a:xfrm>
          <a:prstGeom prst="rect">
            <a:avLst/>
          </a:prstGeom>
          <a:solidFill>
            <a:srgbClr val="1A3A3A"/>
          </a:solidFill>
          <a:ln w="12700">
            <a:solidFill>
              <a:srgbClr val="1A3A3A"/>
            </a:solidFill>
            <a:prstDash val="solid"/>
          </a:ln>
        </p:spPr>
      </p:sp>
      <p:sp>
        <p:nvSpPr>
          <p:cNvPr id="7" name="Text 5"/>
          <p:cNvSpPr/>
          <p:nvPr/>
        </p:nvSpPr>
        <p:spPr>
          <a:xfrm>
            <a:off x="457200" y="868680"/>
            <a:ext cx="8229600" cy="868680"/>
          </a:xfrm>
          <a:prstGeom prst="rect">
            <a:avLst/>
          </a:prstGeom>
          <a:noFill/>
          <a:ln/>
        </p:spPr>
        <p:txBody>
          <a:bodyPr wrap="square" lIns="0" tIns="0" rIns="0" bIns="0" rtlCol="0" anchor="ctr"/>
          <a:lstStyle/>
          <a:p>
            <a:pPr algn="ctr" indent="0" marL="0">
              <a:buNone/>
            </a:pPr>
            <a:r>
              <a:rPr lang="en-US" sz="1900" b="1" dirty="0">
                <a:solidFill>
                  <a:srgbClr val="E8C080"/>
                </a:solidFill>
                <a:latin typeface="MS Mincho" pitchFamily="34" charset="0"/>
                <a:ea typeface="MS Mincho" pitchFamily="34" charset="-122"/>
                <a:cs typeface="MS Mincho" pitchFamily="34" charset="-120"/>
              </a:rPr>
              <a:t>「才能がない」のではない。「アクセスできていない」だけだ。</a:t>
            </a:r>
            <a:endParaRPr lang="en-US" sz="1900" dirty="0"/>
          </a:p>
        </p:txBody>
      </p:sp>
      <p:sp>
        <p:nvSpPr>
          <p:cNvPr id="8" name="Text 6"/>
          <p:cNvSpPr/>
          <p:nvPr/>
        </p:nvSpPr>
        <p:spPr>
          <a:xfrm>
            <a:off x="502920" y="1883664"/>
            <a:ext cx="8138160" cy="777240"/>
          </a:xfrm>
          <a:prstGeom prst="rect">
            <a:avLst/>
          </a:prstGeom>
          <a:noFill/>
          <a:ln/>
        </p:spPr>
        <p:txBody>
          <a:bodyPr wrap="square" lIns="0" tIns="0" rIns="0" bIns="0" rtlCol="0" anchor="t"/>
          <a:lstStyle/>
          <a:p>
            <a:pPr indent="0" marL="0">
              <a:lnSpc>
                <a:spcPct val="165000"/>
              </a:lnSpc>
              <a:buNone/>
            </a:pPr>
            <a:r>
              <a:rPr lang="en-US" sz="1200" dirty="0">
                <a:solidFill>
                  <a:srgbClr val="5A5A5A"/>
                </a:solidFill>
                <a:latin typeface="Meiryo" pitchFamily="34" charset="0"/>
                <a:ea typeface="Meiryo" pitchFamily="34" charset="-122"/>
                <a:cs typeface="Meiryo" pitchFamily="34" charset="-120"/>
              </a:rPr>
              <a:t>大事な場面で実力が出ない、緊張して頭が真っ白になる、練習ではできるのに本番でダメになる。</a:t>
            </a:r>
            <a:endParaRPr lang="en-US" sz="1200" dirty="0"/>
          </a:p>
          <a:p>
            <a:pPr indent="0" marL="0">
              <a:lnSpc>
                <a:spcPct val="165000"/>
              </a:lnSpc>
              <a:buNone/>
            </a:pPr>
            <a:r>
              <a:rPr lang="en-US" sz="1200" dirty="0">
                <a:solidFill>
                  <a:srgbClr val="5A5A5A"/>
                </a:solidFill>
                <a:latin typeface="Meiryo" pitchFamily="34" charset="0"/>
                <a:ea typeface="Meiryo" pitchFamily="34" charset="-122"/>
                <a:cs typeface="Meiryo" pitchFamily="34" charset="-120"/>
              </a:rPr>
              <a:t>これらの多くは「神経系の誤作動（過去の体験から この場面＝危険 と学習してしまうこと）」が大きな要因です。</a:t>
            </a:r>
            <a:endParaRPr lang="en-US" sz="1200" dirty="0"/>
          </a:p>
        </p:txBody>
      </p:sp>
      <p:sp>
        <p:nvSpPr>
          <p:cNvPr id="9" name="Shape 7"/>
          <p:cNvSpPr/>
          <p:nvPr/>
        </p:nvSpPr>
        <p:spPr>
          <a:xfrm>
            <a:off x="457200" y="2788920"/>
            <a:ext cx="8229600" cy="960120"/>
          </a:xfrm>
          <a:prstGeom prst="rect">
            <a:avLst/>
          </a:prstGeom>
          <a:solidFill>
            <a:srgbClr val="F5F0E8"/>
          </a:solidFill>
          <a:ln w="19050">
            <a:solidFill>
              <a:srgbClr val="B8976A"/>
            </a:solidFill>
            <a:prstDash val="solid"/>
          </a:ln>
        </p:spPr>
      </p:sp>
      <p:sp>
        <p:nvSpPr>
          <p:cNvPr id="10" name="Text 8"/>
          <p:cNvSpPr/>
          <p:nvPr/>
        </p:nvSpPr>
        <p:spPr>
          <a:xfrm>
            <a:off x="457200" y="2788920"/>
            <a:ext cx="8229600" cy="960120"/>
          </a:xfrm>
          <a:prstGeom prst="rect">
            <a:avLst/>
          </a:prstGeom>
          <a:noFill/>
          <a:ln/>
        </p:spPr>
        <p:txBody>
          <a:bodyPr wrap="square" lIns="0" tIns="0" rIns="0" bIns="0" rtlCol="0" anchor="ctr"/>
          <a:lstStyle/>
          <a:p>
            <a:pPr algn="ctr" indent="0" marL="0">
              <a:lnSpc>
                <a:spcPct val="170000"/>
              </a:lnSpc>
              <a:buNone/>
            </a:pPr>
            <a:r>
              <a:rPr lang="en-US" sz="1400" b="1" dirty="0">
                <a:solidFill>
                  <a:srgbClr val="1A3A3A"/>
                </a:solidFill>
                <a:latin typeface="MS Mincho" pitchFamily="34" charset="0"/>
                <a:ea typeface="MS Mincho" pitchFamily="34" charset="-122"/>
                <a:cs typeface="MS Mincho" pitchFamily="34" charset="-120"/>
              </a:rPr>
              <a:t>才能を増やすのではなく、本来持っているあなたの実力が発揮できる</a:t>
            </a:r>
            <a:endParaRPr lang="en-US" sz="1400" dirty="0"/>
          </a:p>
          <a:p>
            <a:pPr algn="ctr" indent="0" marL="0">
              <a:lnSpc>
                <a:spcPct val="170000"/>
              </a:lnSpc>
              <a:buNone/>
            </a:pPr>
            <a:r>
              <a:rPr lang="en-US" sz="1400" b="1" dirty="0">
                <a:solidFill>
                  <a:srgbClr val="1A3A3A"/>
                </a:solidFill>
                <a:latin typeface="MS Mincho" pitchFamily="34" charset="0"/>
                <a:ea typeface="MS Mincho" pitchFamily="34" charset="-122"/>
                <a:cs typeface="MS Mincho" pitchFamily="34" charset="-120"/>
              </a:rPr>
              <a:t>フォーム（土台）を、6方向から同時に整えるのがこのプログラムです。</a:t>
            </a:r>
            <a:endParaRPr lang="en-US" sz="1400" dirty="0"/>
          </a:p>
        </p:txBody>
      </p:sp>
      <p:sp>
        <p:nvSpPr>
          <p:cNvPr id="11" name="Text 9"/>
          <p:cNvSpPr/>
          <p:nvPr/>
        </p:nvSpPr>
        <p:spPr>
          <a:xfrm>
            <a:off x="457200" y="3913632"/>
            <a:ext cx="8229600" cy="502920"/>
          </a:xfrm>
          <a:prstGeom prst="rect">
            <a:avLst/>
          </a:prstGeom>
          <a:noFill/>
          <a:ln/>
        </p:spPr>
        <p:txBody>
          <a:bodyPr wrap="square" lIns="0" tIns="0" rIns="0" bIns="0" rtlCol="0" anchor="ctr"/>
          <a:lstStyle/>
          <a:p>
            <a:pPr indent="0" marL="0">
              <a:lnSpc>
                <a:spcPct val="140000"/>
              </a:lnSpc>
              <a:buNone/>
            </a:pPr>
            <a:r>
              <a:rPr lang="en-US" sz="850" dirty="0">
                <a:solidFill>
                  <a:srgbClr val="999999"/>
                </a:solidFill>
                <a:latin typeface="Meiryo" pitchFamily="34" charset="0"/>
                <a:ea typeface="Meiryo" pitchFamily="34" charset="-122"/>
                <a:cs typeface="Meiryo" pitchFamily="34" charset="-120"/>
              </a:rPr>
              <a:t>※本プログラムは医療行為・心理療法の代替ではありません。パニック障害等の診断がある方は必ず主治医の治療を継続してください。</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A3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8976A"/>
          </a:solidFill>
          <a:ln w="12700">
            <a:solidFill>
              <a:srgbClr val="B8976A"/>
            </a:solidFill>
            <a:prstDash val="solid"/>
          </a:ln>
        </p:spPr>
      </p:sp>
      <p:sp>
        <p:nvSpPr>
          <p:cNvPr id="3" name="Shape 1"/>
          <p:cNvSpPr/>
          <p:nvPr/>
        </p:nvSpPr>
        <p:spPr>
          <a:xfrm>
            <a:off x="0" y="5079492"/>
            <a:ext cx="9144000" cy="64008"/>
          </a:xfrm>
          <a:prstGeom prst="rect">
            <a:avLst/>
          </a:prstGeom>
          <a:solidFill>
            <a:srgbClr val="B8976A"/>
          </a:solidFill>
          <a:ln w="12700">
            <a:solidFill>
              <a:srgbClr val="B8976A"/>
            </a:solidFill>
            <a:prstDash val="solid"/>
          </a:ln>
        </p:spPr>
      </p:sp>
      <p:sp>
        <p:nvSpPr>
          <p:cNvPr id="4" name="Text 2"/>
          <p:cNvSpPr/>
          <p:nvPr/>
        </p:nvSpPr>
        <p:spPr>
          <a:xfrm>
            <a:off x="457200" y="91440"/>
            <a:ext cx="8229600"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MS Mincho" pitchFamily="34" charset="0"/>
                <a:ea typeface="MS Mincho" pitchFamily="34" charset="-122"/>
                <a:cs typeface="MS Mincho" pitchFamily="34" charset="-120"/>
              </a:rPr>
              <a:t>6方向からアプローチする「フォーム」の全体像</a:t>
            </a:r>
            <a:endParaRPr lang="en-US" sz="2000" dirty="0"/>
          </a:p>
        </p:txBody>
      </p:sp>
      <p:sp>
        <p:nvSpPr>
          <p:cNvPr id="5" name="Text 3"/>
          <p:cNvSpPr/>
          <p:nvPr/>
        </p:nvSpPr>
        <p:spPr>
          <a:xfrm>
            <a:off x="457200" y="621792"/>
            <a:ext cx="8229600" cy="292608"/>
          </a:xfrm>
          <a:prstGeom prst="rect">
            <a:avLst/>
          </a:prstGeom>
          <a:noFill/>
          <a:ln/>
        </p:spPr>
        <p:txBody>
          <a:bodyPr wrap="square" lIns="0" tIns="0" rIns="0" bIns="0" rtlCol="0" anchor="ctr"/>
          <a:lstStyle/>
          <a:p>
            <a:pPr algn="ctr" indent="0" marL="0">
              <a:buNone/>
            </a:pPr>
            <a:r>
              <a:rPr lang="en-US" sz="1050" dirty="0">
                <a:solidFill>
                  <a:srgbClr val="B8976A"/>
                </a:solidFill>
                <a:latin typeface="Meiryo" pitchFamily="34" charset="0"/>
                <a:ea typeface="Meiryo" pitchFamily="34" charset="-122"/>
                <a:cs typeface="Meiryo" pitchFamily="34" charset="-120"/>
              </a:rPr>
              <a:t>各ピラーは3層の構造で互いに支え合い、相乗効果を生み出します</a:t>
            </a:r>
            <a:endParaRPr lang="en-US" sz="1050" dirty="0"/>
          </a:p>
        </p:txBody>
      </p:sp>
      <p:sp>
        <p:nvSpPr>
          <p:cNvPr id="6" name="Shape 4"/>
          <p:cNvSpPr/>
          <p:nvPr/>
        </p:nvSpPr>
        <p:spPr>
          <a:xfrm>
            <a:off x="347472" y="1005840"/>
            <a:ext cx="2633472" cy="1572768"/>
          </a:xfrm>
          <a:prstGeom prst="rect">
            <a:avLst/>
          </a:prstGeom>
          <a:solidFill>
            <a:srgbClr val="0F2A20"/>
          </a:solidFill>
          <a:ln w="10160">
            <a:solidFill>
              <a:srgbClr val="B8976A"/>
            </a:solidFill>
            <a:prstDash val="solid"/>
          </a:ln>
        </p:spPr>
      </p:sp>
      <p:sp>
        <p:nvSpPr>
          <p:cNvPr id="7" name="Shape 5"/>
          <p:cNvSpPr/>
          <p:nvPr/>
        </p:nvSpPr>
        <p:spPr>
          <a:xfrm>
            <a:off x="347472" y="1005840"/>
            <a:ext cx="2633472" cy="45720"/>
          </a:xfrm>
          <a:prstGeom prst="rect">
            <a:avLst/>
          </a:prstGeom>
          <a:solidFill>
            <a:srgbClr val="B8976A"/>
          </a:solidFill>
          <a:ln w="12700">
            <a:solidFill>
              <a:srgbClr val="B8976A"/>
            </a:solidFill>
            <a:prstDash val="solid"/>
          </a:ln>
        </p:spPr>
      </p:sp>
      <p:sp>
        <p:nvSpPr>
          <p:cNvPr id="8" name="Text 6"/>
          <p:cNvSpPr/>
          <p:nvPr/>
        </p:nvSpPr>
        <p:spPr>
          <a:xfrm>
            <a:off x="475488" y="1078992"/>
            <a:ext cx="457200" cy="365760"/>
          </a:xfrm>
          <a:prstGeom prst="rect">
            <a:avLst/>
          </a:prstGeom>
          <a:noFill/>
          <a:ln/>
        </p:spPr>
        <p:txBody>
          <a:bodyPr wrap="square" lIns="0" tIns="0" rIns="0" bIns="0" rtlCol="0" anchor="ctr"/>
          <a:lstStyle/>
          <a:p>
            <a:pPr indent="0" marL="0">
              <a:buNone/>
            </a:pPr>
            <a:r>
              <a:rPr lang="en-US" sz="2200" b="1" dirty="0">
                <a:solidFill>
                  <a:srgbClr val="E8C080"/>
                </a:solidFill>
                <a:latin typeface="Georgia" pitchFamily="34" charset="0"/>
                <a:ea typeface="Georgia" pitchFamily="34" charset="-122"/>
                <a:cs typeface="Georgia" pitchFamily="34" charset="-120"/>
              </a:rPr>
              <a:t>P1</a:t>
            </a:r>
            <a:endParaRPr lang="en-US" sz="2200" dirty="0"/>
          </a:p>
        </p:txBody>
      </p:sp>
      <p:sp>
        <p:nvSpPr>
          <p:cNvPr id="9" name="Shape 7"/>
          <p:cNvSpPr/>
          <p:nvPr/>
        </p:nvSpPr>
        <p:spPr>
          <a:xfrm>
            <a:off x="914400" y="1170432"/>
            <a:ext cx="1920240" cy="10973"/>
          </a:xfrm>
          <a:prstGeom prst="rect">
            <a:avLst/>
          </a:prstGeom>
          <a:solidFill>
            <a:srgbClr val="B8976A"/>
          </a:solidFill>
          <a:ln w="12700">
            <a:solidFill>
              <a:srgbClr val="B8976A"/>
            </a:solidFill>
            <a:prstDash val="solid"/>
          </a:ln>
        </p:spPr>
      </p:sp>
      <p:sp>
        <p:nvSpPr>
          <p:cNvPr id="10" name="Text 8"/>
          <p:cNvSpPr/>
          <p:nvPr/>
        </p:nvSpPr>
        <p:spPr>
          <a:xfrm>
            <a:off x="475488" y="1481328"/>
            <a:ext cx="2432304" cy="548640"/>
          </a:xfrm>
          <a:prstGeom prst="rect">
            <a:avLst/>
          </a:prstGeom>
          <a:noFill/>
          <a:ln/>
        </p:spPr>
        <p:txBody>
          <a:bodyPr wrap="square" lIns="0" tIns="0" rIns="0" bIns="0" rtlCol="0" anchor="t"/>
          <a:lstStyle/>
          <a:p>
            <a:pPr indent="0" marL="0">
              <a:lnSpc>
                <a:spcPct val="130000"/>
              </a:lnSpc>
              <a:buNone/>
            </a:pPr>
            <a:r>
              <a:rPr lang="en-US" sz="1150" b="1" dirty="0">
                <a:solidFill>
                  <a:srgbClr val="FFFFFF"/>
                </a:solidFill>
                <a:latin typeface="MS Mincho" pitchFamily="34" charset="0"/>
                <a:ea typeface="MS Mincho" pitchFamily="34" charset="-122"/>
                <a:cs typeface="MS Mincho" pitchFamily="34" charset="-120"/>
              </a:rPr>
              <a:t>神経系の燃料を整える</a:t>
            </a:r>
            <a:endParaRPr lang="en-US" sz="1150" dirty="0"/>
          </a:p>
        </p:txBody>
      </p:sp>
      <p:sp>
        <p:nvSpPr>
          <p:cNvPr id="11" name="Text 9"/>
          <p:cNvSpPr/>
          <p:nvPr/>
        </p:nvSpPr>
        <p:spPr>
          <a:xfrm>
            <a:off x="475488" y="2029968"/>
            <a:ext cx="2432304" cy="475488"/>
          </a:xfrm>
          <a:prstGeom prst="rect">
            <a:avLst/>
          </a:prstGeom>
          <a:noFill/>
          <a:ln/>
        </p:spPr>
        <p:txBody>
          <a:bodyPr wrap="square" lIns="0" tIns="0" rIns="0" bIns="0" rtlCol="0" anchor="t"/>
          <a:lstStyle/>
          <a:p>
            <a:pPr indent="0" marL="0">
              <a:lnSpc>
                <a:spcPct val="130000"/>
              </a:lnSpc>
              <a:buNone/>
            </a:pPr>
            <a:r>
              <a:rPr lang="en-US" sz="900" dirty="0">
                <a:solidFill>
                  <a:srgbClr val="B8976A"/>
                </a:solidFill>
                <a:latin typeface="Meiryo" pitchFamily="34" charset="0"/>
                <a:ea typeface="Meiryo" pitchFamily="34" charset="-122"/>
                <a:cs typeface="Meiryo" pitchFamily="34" charset="-120"/>
              </a:rPr>
              <a:t>食事・栄養で神経系の土台を作る</a:t>
            </a:r>
            <a:endParaRPr lang="en-US" sz="900" dirty="0"/>
          </a:p>
        </p:txBody>
      </p:sp>
      <p:sp>
        <p:nvSpPr>
          <p:cNvPr id="12" name="Shape 10"/>
          <p:cNvSpPr/>
          <p:nvPr/>
        </p:nvSpPr>
        <p:spPr>
          <a:xfrm>
            <a:off x="3191256" y="1005840"/>
            <a:ext cx="2633472" cy="1572768"/>
          </a:xfrm>
          <a:prstGeom prst="rect">
            <a:avLst/>
          </a:prstGeom>
          <a:solidFill>
            <a:srgbClr val="0F2A20"/>
          </a:solidFill>
          <a:ln w="10160">
            <a:solidFill>
              <a:srgbClr val="B8976A"/>
            </a:solidFill>
            <a:prstDash val="solid"/>
          </a:ln>
        </p:spPr>
      </p:sp>
      <p:sp>
        <p:nvSpPr>
          <p:cNvPr id="13" name="Shape 11"/>
          <p:cNvSpPr/>
          <p:nvPr/>
        </p:nvSpPr>
        <p:spPr>
          <a:xfrm>
            <a:off x="3191256" y="1005840"/>
            <a:ext cx="2633472" cy="45720"/>
          </a:xfrm>
          <a:prstGeom prst="rect">
            <a:avLst/>
          </a:prstGeom>
          <a:solidFill>
            <a:srgbClr val="B8976A"/>
          </a:solidFill>
          <a:ln w="12700">
            <a:solidFill>
              <a:srgbClr val="B8976A"/>
            </a:solidFill>
            <a:prstDash val="solid"/>
          </a:ln>
        </p:spPr>
      </p:sp>
      <p:sp>
        <p:nvSpPr>
          <p:cNvPr id="14" name="Text 12"/>
          <p:cNvSpPr/>
          <p:nvPr/>
        </p:nvSpPr>
        <p:spPr>
          <a:xfrm>
            <a:off x="3319272" y="1078992"/>
            <a:ext cx="457200" cy="365760"/>
          </a:xfrm>
          <a:prstGeom prst="rect">
            <a:avLst/>
          </a:prstGeom>
          <a:noFill/>
          <a:ln/>
        </p:spPr>
        <p:txBody>
          <a:bodyPr wrap="square" lIns="0" tIns="0" rIns="0" bIns="0" rtlCol="0" anchor="ctr"/>
          <a:lstStyle/>
          <a:p>
            <a:pPr indent="0" marL="0">
              <a:buNone/>
            </a:pPr>
            <a:r>
              <a:rPr lang="en-US" sz="2200" b="1" dirty="0">
                <a:solidFill>
                  <a:srgbClr val="E8C080"/>
                </a:solidFill>
                <a:latin typeface="Georgia" pitchFamily="34" charset="0"/>
                <a:ea typeface="Georgia" pitchFamily="34" charset="-122"/>
                <a:cs typeface="Georgia" pitchFamily="34" charset="-120"/>
              </a:rPr>
              <a:t>P2</a:t>
            </a:r>
            <a:endParaRPr lang="en-US" sz="2200" dirty="0"/>
          </a:p>
        </p:txBody>
      </p:sp>
      <p:sp>
        <p:nvSpPr>
          <p:cNvPr id="15" name="Shape 13"/>
          <p:cNvSpPr/>
          <p:nvPr/>
        </p:nvSpPr>
        <p:spPr>
          <a:xfrm>
            <a:off x="3758184" y="1170432"/>
            <a:ext cx="1920240" cy="10973"/>
          </a:xfrm>
          <a:prstGeom prst="rect">
            <a:avLst/>
          </a:prstGeom>
          <a:solidFill>
            <a:srgbClr val="B8976A"/>
          </a:solidFill>
          <a:ln w="12700">
            <a:solidFill>
              <a:srgbClr val="B8976A"/>
            </a:solidFill>
            <a:prstDash val="solid"/>
          </a:ln>
        </p:spPr>
      </p:sp>
      <p:sp>
        <p:nvSpPr>
          <p:cNvPr id="16" name="Text 14"/>
          <p:cNvSpPr/>
          <p:nvPr/>
        </p:nvSpPr>
        <p:spPr>
          <a:xfrm>
            <a:off x="3319272" y="1481328"/>
            <a:ext cx="2432304" cy="548640"/>
          </a:xfrm>
          <a:prstGeom prst="rect">
            <a:avLst/>
          </a:prstGeom>
          <a:noFill/>
          <a:ln/>
        </p:spPr>
        <p:txBody>
          <a:bodyPr wrap="square" lIns="0" tIns="0" rIns="0" bIns="0" rtlCol="0" anchor="t"/>
          <a:lstStyle/>
          <a:p>
            <a:pPr indent="0" marL="0">
              <a:lnSpc>
                <a:spcPct val="130000"/>
              </a:lnSpc>
              <a:buNone/>
            </a:pPr>
            <a:r>
              <a:rPr lang="en-US" sz="1150" b="1" dirty="0">
                <a:solidFill>
                  <a:srgbClr val="FFFFFF"/>
                </a:solidFill>
                <a:latin typeface="MS Mincho" pitchFamily="34" charset="0"/>
                <a:ea typeface="MS Mincho" pitchFamily="34" charset="-122"/>
                <a:cs typeface="MS Mincho" pitchFamily="34" charset="-120"/>
              </a:rPr>
              <a:t>呼吸の土台を作る</a:t>
            </a:r>
            <a:endParaRPr lang="en-US" sz="1150" dirty="0"/>
          </a:p>
        </p:txBody>
      </p:sp>
      <p:sp>
        <p:nvSpPr>
          <p:cNvPr id="17" name="Text 15"/>
          <p:cNvSpPr/>
          <p:nvPr/>
        </p:nvSpPr>
        <p:spPr>
          <a:xfrm>
            <a:off x="3319272" y="2029968"/>
            <a:ext cx="2432304" cy="475488"/>
          </a:xfrm>
          <a:prstGeom prst="rect">
            <a:avLst/>
          </a:prstGeom>
          <a:noFill/>
          <a:ln/>
        </p:spPr>
        <p:txBody>
          <a:bodyPr wrap="square" lIns="0" tIns="0" rIns="0" bIns="0" rtlCol="0" anchor="t"/>
          <a:lstStyle/>
          <a:p>
            <a:pPr indent="0" marL="0">
              <a:lnSpc>
                <a:spcPct val="130000"/>
              </a:lnSpc>
              <a:buNone/>
            </a:pPr>
            <a:r>
              <a:rPr lang="en-US" sz="900" dirty="0">
                <a:solidFill>
                  <a:srgbClr val="B8976A"/>
                </a:solidFill>
                <a:latin typeface="Meiryo" pitchFamily="34" charset="0"/>
                <a:ea typeface="Meiryo" pitchFamily="34" charset="-122"/>
                <a:cs typeface="Meiryo" pitchFamily="34" charset="-120"/>
              </a:rPr>
              <a:t>骨盤・横隔膜を整え深い呼吸へ</a:t>
            </a:r>
            <a:endParaRPr lang="en-US" sz="900" dirty="0"/>
          </a:p>
        </p:txBody>
      </p:sp>
      <p:sp>
        <p:nvSpPr>
          <p:cNvPr id="18" name="Shape 16"/>
          <p:cNvSpPr/>
          <p:nvPr/>
        </p:nvSpPr>
        <p:spPr>
          <a:xfrm>
            <a:off x="6035040" y="1005840"/>
            <a:ext cx="2633472" cy="1572768"/>
          </a:xfrm>
          <a:prstGeom prst="rect">
            <a:avLst/>
          </a:prstGeom>
          <a:solidFill>
            <a:srgbClr val="0F2A20"/>
          </a:solidFill>
          <a:ln w="10160">
            <a:solidFill>
              <a:srgbClr val="B8976A"/>
            </a:solidFill>
            <a:prstDash val="solid"/>
          </a:ln>
        </p:spPr>
      </p:sp>
      <p:sp>
        <p:nvSpPr>
          <p:cNvPr id="19" name="Shape 17"/>
          <p:cNvSpPr/>
          <p:nvPr/>
        </p:nvSpPr>
        <p:spPr>
          <a:xfrm>
            <a:off x="6035040" y="1005840"/>
            <a:ext cx="2633472" cy="45720"/>
          </a:xfrm>
          <a:prstGeom prst="rect">
            <a:avLst/>
          </a:prstGeom>
          <a:solidFill>
            <a:srgbClr val="B8976A"/>
          </a:solidFill>
          <a:ln w="12700">
            <a:solidFill>
              <a:srgbClr val="B8976A"/>
            </a:solidFill>
            <a:prstDash val="solid"/>
          </a:ln>
        </p:spPr>
      </p:sp>
      <p:sp>
        <p:nvSpPr>
          <p:cNvPr id="20" name="Text 18"/>
          <p:cNvSpPr/>
          <p:nvPr/>
        </p:nvSpPr>
        <p:spPr>
          <a:xfrm>
            <a:off x="6163056" y="1078992"/>
            <a:ext cx="457200" cy="365760"/>
          </a:xfrm>
          <a:prstGeom prst="rect">
            <a:avLst/>
          </a:prstGeom>
          <a:noFill/>
          <a:ln/>
        </p:spPr>
        <p:txBody>
          <a:bodyPr wrap="square" lIns="0" tIns="0" rIns="0" bIns="0" rtlCol="0" anchor="ctr"/>
          <a:lstStyle/>
          <a:p>
            <a:pPr indent="0" marL="0">
              <a:buNone/>
            </a:pPr>
            <a:r>
              <a:rPr lang="en-US" sz="2200" b="1" dirty="0">
                <a:solidFill>
                  <a:srgbClr val="E8C080"/>
                </a:solidFill>
                <a:latin typeface="Georgia" pitchFamily="34" charset="0"/>
                <a:ea typeface="Georgia" pitchFamily="34" charset="-122"/>
                <a:cs typeface="Georgia" pitchFamily="34" charset="-120"/>
              </a:rPr>
              <a:t>P3</a:t>
            </a:r>
            <a:endParaRPr lang="en-US" sz="2200" dirty="0"/>
          </a:p>
        </p:txBody>
      </p:sp>
      <p:sp>
        <p:nvSpPr>
          <p:cNvPr id="21" name="Shape 19"/>
          <p:cNvSpPr/>
          <p:nvPr/>
        </p:nvSpPr>
        <p:spPr>
          <a:xfrm>
            <a:off x="6601968" y="1170432"/>
            <a:ext cx="1920240" cy="10973"/>
          </a:xfrm>
          <a:prstGeom prst="rect">
            <a:avLst/>
          </a:prstGeom>
          <a:solidFill>
            <a:srgbClr val="B8976A"/>
          </a:solidFill>
          <a:ln w="12700">
            <a:solidFill>
              <a:srgbClr val="B8976A"/>
            </a:solidFill>
            <a:prstDash val="solid"/>
          </a:ln>
        </p:spPr>
      </p:sp>
      <p:sp>
        <p:nvSpPr>
          <p:cNvPr id="22" name="Text 20"/>
          <p:cNvSpPr/>
          <p:nvPr/>
        </p:nvSpPr>
        <p:spPr>
          <a:xfrm>
            <a:off x="6163056" y="1481328"/>
            <a:ext cx="2432304" cy="548640"/>
          </a:xfrm>
          <a:prstGeom prst="rect">
            <a:avLst/>
          </a:prstGeom>
          <a:noFill/>
          <a:ln/>
        </p:spPr>
        <p:txBody>
          <a:bodyPr wrap="square" lIns="0" tIns="0" rIns="0" bIns="0" rtlCol="0" anchor="t"/>
          <a:lstStyle/>
          <a:p>
            <a:pPr indent="0" marL="0">
              <a:lnSpc>
                <a:spcPct val="130000"/>
              </a:lnSpc>
              <a:buNone/>
            </a:pPr>
            <a:r>
              <a:rPr lang="en-US" sz="1150" b="1" dirty="0">
                <a:solidFill>
                  <a:srgbClr val="FFFFFF"/>
                </a:solidFill>
                <a:latin typeface="MS Mincho" pitchFamily="34" charset="0"/>
                <a:ea typeface="MS Mincho" pitchFamily="34" charset="-122"/>
                <a:cs typeface="MS Mincho" pitchFamily="34" charset="-120"/>
              </a:rPr>
              <a:t>Ha呼吸で自律神経を育てる</a:t>
            </a:r>
            <a:endParaRPr lang="en-US" sz="1150" dirty="0"/>
          </a:p>
        </p:txBody>
      </p:sp>
      <p:sp>
        <p:nvSpPr>
          <p:cNvPr id="23" name="Text 21"/>
          <p:cNvSpPr/>
          <p:nvPr/>
        </p:nvSpPr>
        <p:spPr>
          <a:xfrm>
            <a:off x="6163056" y="2029968"/>
            <a:ext cx="2432304" cy="475488"/>
          </a:xfrm>
          <a:prstGeom prst="rect">
            <a:avLst/>
          </a:prstGeom>
          <a:noFill/>
          <a:ln/>
        </p:spPr>
        <p:txBody>
          <a:bodyPr wrap="square" lIns="0" tIns="0" rIns="0" bIns="0" rtlCol="0" anchor="t"/>
          <a:lstStyle/>
          <a:p>
            <a:pPr indent="0" marL="0">
              <a:lnSpc>
                <a:spcPct val="130000"/>
              </a:lnSpc>
              <a:buNone/>
            </a:pPr>
            <a:r>
              <a:rPr lang="en-US" sz="900" dirty="0">
                <a:solidFill>
                  <a:srgbClr val="B8976A"/>
                </a:solidFill>
                <a:latin typeface="Meiryo" pitchFamily="34" charset="0"/>
                <a:ea typeface="Meiryo" pitchFamily="34" charset="-122"/>
                <a:cs typeface="Meiryo" pitchFamily="34" charset="-120"/>
              </a:rPr>
              <a:t>迷走神経を刺激し落ち着きを培う</a:t>
            </a:r>
            <a:endParaRPr lang="en-US" sz="900" dirty="0"/>
          </a:p>
        </p:txBody>
      </p:sp>
      <p:sp>
        <p:nvSpPr>
          <p:cNvPr id="24" name="Shape 22"/>
          <p:cNvSpPr/>
          <p:nvPr/>
        </p:nvSpPr>
        <p:spPr>
          <a:xfrm>
            <a:off x="347472" y="2743200"/>
            <a:ext cx="2633472" cy="1572768"/>
          </a:xfrm>
          <a:prstGeom prst="rect">
            <a:avLst/>
          </a:prstGeom>
          <a:solidFill>
            <a:srgbClr val="0F2A20"/>
          </a:solidFill>
          <a:ln w="10160">
            <a:solidFill>
              <a:srgbClr val="B8976A"/>
            </a:solidFill>
            <a:prstDash val="solid"/>
          </a:ln>
        </p:spPr>
      </p:sp>
      <p:sp>
        <p:nvSpPr>
          <p:cNvPr id="25" name="Shape 23"/>
          <p:cNvSpPr/>
          <p:nvPr/>
        </p:nvSpPr>
        <p:spPr>
          <a:xfrm>
            <a:off x="347472" y="2743200"/>
            <a:ext cx="2633472" cy="45720"/>
          </a:xfrm>
          <a:prstGeom prst="rect">
            <a:avLst/>
          </a:prstGeom>
          <a:solidFill>
            <a:srgbClr val="B8976A"/>
          </a:solidFill>
          <a:ln w="12700">
            <a:solidFill>
              <a:srgbClr val="B8976A"/>
            </a:solidFill>
            <a:prstDash val="solid"/>
          </a:ln>
        </p:spPr>
      </p:sp>
      <p:sp>
        <p:nvSpPr>
          <p:cNvPr id="26" name="Text 24"/>
          <p:cNvSpPr/>
          <p:nvPr/>
        </p:nvSpPr>
        <p:spPr>
          <a:xfrm>
            <a:off x="475488" y="2816352"/>
            <a:ext cx="457200" cy="365760"/>
          </a:xfrm>
          <a:prstGeom prst="rect">
            <a:avLst/>
          </a:prstGeom>
          <a:noFill/>
          <a:ln/>
        </p:spPr>
        <p:txBody>
          <a:bodyPr wrap="square" lIns="0" tIns="0" rIns="0" bIns="0" rtlCol="0" anchor="ctr"/>
          <a:lstStyle/>
          <a:p>
            <a:pPr indent="0" marL="0">
              <a:buNone/>
            </a:pPr>
            <a:r>
              <a:rPr lang="en-US" sz="2200" b="1" dirty="0">
                <a:solidFill>
                  <a:srgbClr val="E8C080"/>
                </a:solidFill>
                <a:latin typeface="Georgia" pitchFamily="34" charset="0"/>
                <a:ea typeface="Georgia" pitchFamily="34" charset="-122"/>
                <a:cs typeface="Georgia" pitchFamily="34" charset="-120"/>
              </a:rPr>
              <a:t>P4</a:t>
            </a:r>
            <a:endParaRPr lang="en-US" sz="2200" dirty="0"/>
          </a:p>
        </p:txBody>
      </p:sp>
      <p:sp>
        <p:nvSpPr>
          <p:cNvPr id="27" name="Shape 25"/>
          <p:cNvSpPr/>
          <p:nvPr/>
        </p:nvSpPr>
        <p:spPr>
          <a:xfrm>
            <a:off x="914400" y="2907792"/>
            <a:ext cx="1920240" cy="10973"/>
          </a:xfrm>
          <a:prstGeom prst="rect">
            <a:avLst/>
          </a:prstGeom>
          <a:solidFill>
            <a:srgbClr val="B8976A"/>
          </a:solidFill>
          <a:ln w="12700">
            <a:solidFill>
              <a:srgbClr val="B8976A"/>
            </a:solidFill>
            <a:prstDash val="solid"/>
          </a:ln>
        </p:spPr>
      </p:sp>
      <p:sp>
        <p:nvSpPr>
          <p:cNvPr id="28" name="Text 26"/>
          <p:cNvSpPr/>
          <p:nvPr/>
        </p:nvSpPr>
        <p:spPr>
          <a:xfrm>
            <a:off x="475488" y="3218688"/>
            <a:ext cx="2432304" cy="548640"/>
          </a:xfrm>
          <a:prstGeom prst="rect">
            <a:avLst/>
          </a:prstGeom>
          <a:noFill/>
          <a:ln/>
        </p:spPr>
        <p:txBody>
          <a:bodyPr wrap="square" lIns="0" tIns="0" rIns="0" bIns="0" rtlCol="0" anchor="t"/>
          <a:lstStyle/>
          <a:p>
            <a:pPr indent="0" marL="0">
              <a:lnSpc>
                <a:spcPct val="130000"/>
              </a:lnSpc>
              <a:buNone/>
            </a:pPr>
            <a:r>
              <a:rPr lang="en-US" sz="1150" b="1" dirty="0">
                <a:solidFill>
                  <a:srgbClr val="FFFFFF"/>
                </a:solidFill>
                <a:latin typeface="MS Mincho" pitchFamily="34" charset="0"/>
                <a:ea typeface="MS Mincho" pitchFamily="34" charset="-122"/>
                <a:cs typeface="MS Mincho" pitchFamily="34" charset="-120"/>
              </a:rPr>
              <a:t>扁桃体の誤学習にアプローチ</a:t>
            </a:r>
            <a:endParaRPr lang="en-US" sz="1150" dirty="0"/>
          </a:p>
        </p:txBody>
      </p:sp>
      <p:sp>
        <p:nvSpPr>
          <p:cNvPr id="29" name="Text 27"/>
          <p:cNvSpPr/>
          <p:nvPr/>
        </p:nvSpPr>
        <p:spPr>
          <a:xfrm>
            <a:off x="475488" y="3767328"/>
            <a:ext cx="2432304" cy="475488"/>
          </a:xfrm>
          <a:prstGeom prst="rect">
            <a:avLst/>
          </a:prstGeom>
          <a:noFill/>
          <a:ln/>
        </p:spPr>
        <p:txBody>
          <a:bodyPr wrap="square" lIns="0" tIns="0" rIns="0" bIns="0" rtlCol="0" anchor="t"/>
          <a:lstStyle/>
          <a:p>
            <a:pPr indent="0" marL="0">
              <a:lnSpc>
                <a:spcPct val="130000"/>
              </a:lnSpc>
              <a:buNone/>
            </a:pPr>
            <a:r>
              <a:rPr lang="en-US" sz="900" dirty="0">
                <a:solidFill>
                  <a:srgbClr val="B8976A"/>
                </a:solidFill>
                <a:latin typeface="Meiryo" pitchFamily="34" charset="0"/>
                <a:ea typeface="Meiryo" pitchFamily="34" charset="-122"/>
                <a:cs typeface="Meiryo" pitchFamily="34" charset="-120"/>
              </a:rPr>
              <a:t>NLP・Hunaで恐怖記憶を学び直す</a:t>
            </a:r>
            <a:endParaRPr lang="en-US" sz="900" dirty="0"/>
          </a:p>
        </p:txBody>
      </p:sp>
      <p:sp>
        <p:nvSpPr>
          <p:cNvPr id="30" name="Shape 28"/>
          <p:cNvSpPr/>
          <p:nvPr/>
        </p:nvSpPr>
        <p:spPr>
          <a:xfrm>
            <a:off x="3191256" y="2743200"/>
            <a:ext cx="2633472" cy="1572768"/>
          </a:xfrm>
          <a:prstGeom prst="rect">
            <a:avLst/>
          </a:prstGeom>
          <a:solidFill>
            <a:srgbClr val="0F2A20"/>
          </a:solidFill>
          <a:ln w="10160">
            <a:solidFill>
              <a:srgbClr val="B8976A"/>
            </a:solidFill>
            <a:prstDash val="solid"/>
          </a:ln>
        </p:spPr>
      </p:sp>
      <p:sp>
        <p:nvSpPr>
          <p:cNvPr id="31" name="Shape 29"/>
          <p:cNvSpPr/>
          <p:nvPr/>
        </p:nvSpPr>
        <p:spPr>
          <a:xfrm>
            <a:off x="3191256" y="2743200"/>
            <a:ext cx="2633472" cy="45720"/>
          </a:xfrm>
          <a:prstGeom prst="rect">
            <a:avLst/>
          </a:prstGeom>
          <a:solidFill>
            <a:srgbClr val="B8976A"/>
          </a:solidFill>
          <a:ln w="12700">
            <a:solidFill>
              <a:srgbClr val="B8976A"/>
            </a:solidFill>
            <a:prstDash val="solid"/>
          </a:ln>
        </p:spPr>
      </p:sp>
      <p:sp>
        <p:nvSpPr>
          <p:cNvPr id="32" name="Text 30"/>
          <p:cNvSpPr/>
          <p:nvPr/>
        </p:nvSpPr>
        <p:spPr>
          <a:xfrm>
            <a:off x="3319272" y="2816352"/>
            <a:ext cx="457200" cy="365760"/>
          </a:xfrm>
          <a:prstGeom prst="rect">
            <a:avLst/>
          </a:prstGeom>
          <a:noFill/>
          <a:ln/>
        </p:spPr>
        <p:txBody>
          <a:bodyPr wrap="square" lIns="0" tIns="0" rIns="0" bIns="0" rtlCol="0" anchor="ctr"/>
          <a:lstStyle/>
          <a:p>
            <a:pPr indent="0" marL="0">
              <a:buNone/>
            </a:pPr>
            <a:r>
              <a:rPr lang="en-US" sz="2200" b="1" dirty="0">
                <a:solidFill>
                  <a:srgbClr val="E8C080"/>
                </a:solidFill>
                <a:latin typeface="Georgia" pitchFamily="34" charset="0"/>
                <a:ea typeface="Georgia" pitchFamily="34" charset="-122"/>
                <a:cs typeface="Georgia" pitchFamily="34" charset="-120"/>
              </a:rPr>
              <a:t>P5</a:t>
            </a:r>
            <a:endParaRPr lang="en-US" sz="2200" dirty="0"/>
          </a:p>
        </p:txBody>
      </p:sp>
      <p:sp>
        <p:nvSpPr>
          <p:cNvPr id="33" name="Shape 31"/>
          <p:cNvSpPr/>
          <p:nvPr/>
        </p:nvSpPr>
        <p:spPr>
          <a:xfrm>
            <a:off x="3758184" y="2907792"/>
            <a:ext cx="1920240" cy="10973"/>
          </a:xfrm>
          <a:prstGeom prst="rect">
            <a:avLst/>
          </a:prstGeom>
          <a:solidFill>
            <a:srgbClr val="B8976A"/>
          </a:solidFill>
          <a:ln w="12700">
            <a:solidFill>
              <a:srgbClr val="B8976A"/>
            </a:solidFill>
            <a:prstDash val="solid"/>
          </a:ln>
        </p:spPr>
      </p:sp>
      <p:sp>
        <p:nvSpPr>
          <p:cNvPr id="34" name="Text 32"/>
          <p:cNvSpPr/>
          <p:nvPr/>
        </p:nvSpPr>
        <p:spPr>
          <a:xfrm>
            <a:off x="3319272" y="3218688"/>
            <a:ext cx="2432304" cy="548640"/>
          </a:xfrm>
          <a:prstGeom prst="rect">
            <a:avLst/>
          </a:prstGeom>
          <a:noFill/>
          <a:ln/>
        </p:spPr>
        <p:txBody>
          <a:bodyPr wrap="square" lIns="0" tIns="0" rIns="0" bIns="0" rtlCol="0" anchor="t"/>
          <a:lstStyle/>
          <a:p>
            <a:pPr indent="0" marL="0">
              <a:lnSpc>
                <a:spcPct val="130000"/>
              </a:lnSpc>
              <a:buNone/>
            </a:pPr>
            <a:r>
              <a:rPr lang="en-US" sz="1150" b="1" dirty="0">
                <a:solidFill>
                  <a:srgbClr val="FFFFFF"/>
                </a:solidFill>
                <a:latin typeface="MS Mincho" pitchFamily="34" charset="0"/>
                <a:ea typeface="MS Mincho" pitchFamily="34" charset="-122"/>
                <a:cs typeface="MS Mincho" pitchFamily="34" charset="-120"/>
              </a:rPr>
              <a:t>体内リズムを整える（朝散歩）</a:t>
            </a:r>
            <a:endParaRPr lang="en-US" sz="1150" dirty="0"/>
          </a:p>
        </p:txBody>
      </p:sp>
      <p:sp>
        <p:nvSpPr>
          <p:cNvPr id="35" name="Text 33"/>
          <p:cNvSpPr/>
          <p:nvPr/>
        </p:nvSpPr>
        <p:spPr>
          <a:xfrm>
            <a:off x="3319272" y="3767328"/>
            <a:ext cx="2432304" cy="475488"/>
          </a:xfrm>
          <a:prstGeom prst="rect">
            <a:avLst/>
          </a:prstGeom>
          <a:noFill/>
          <a:ln/>
        </p:spPr>
        <p:txBody>
          <a:bodyPr wrap="square" lIns="0" tIns="0" rIns="0" bIns="0" rtlCol="0" anchor="t"/>
          <a:lstStyle/>
          <a:p>
            <a:pPr indent="0" marL="0">
              <a:lnSpc>
                <a:spcPct val="130000"/>
              </a:lnSpc>
              <a:buNone/>
            </a:pPr>
            <a:r>
              <a:rPr lang="en-US" sz="900" dirty="0">
                <a:solidFill>
                  <a:srgbClr val="B8976A"/>
                </a:solidFill>
                <a:latin typeface="Meiryo" pitchFamily="34" charset="0"/>
                <a:ea typeface="Meiryo" pitchFamily="34" charset="-122"/>
                <a:cs typeface="Meiryo" pitchFamily="34" charset="-120"/>
              </a:rPr>
              <a:t>朝の光と歩きで概日リズム安定</a:t>
            </a:r>
            <a:endParaRPr lang="en-US" sz="900" dirty="0"/>
          </a:p>
        </p:txBody>
      </p:sp>
      <p:sp>
        <p:nvSpPr>
          <p:cNvPr id="36" name="Shape 34"/>
          <p:cNvSpPr/>
          <p:nvPr/>
        </p:nvSpPr>
        <p:spPr>
          <a:xfrm>
            <a:off x="6035040" y="2743200"/>
            <a:ext cx="2633472" cy="1572768"/>
          </a:xfrm>
          <a:prstGeom prst="rect">
            <a:avLst/>
          </a:prstGeom>
          <a:solidFill>
            <a:srgbClr val="0F2A20"/>
          </a:solidFill>
          <a:ln w="10160">
            <a:solidFill>
              <a:srgbClr val="B8976A"/>
            </a:solidFill>
            <a:prstDash val="solid"/>
          </a:ln>
        </p:spPr>
      </p:sp>
      <p:sp>
        <p:nvSpPr>
          <p:cNvPr id="37" name="Shape 35"/>
          <p:cNvSpPr/>
          <p:nvPr/>
        </p:nvSpPr>
        <p:spPr>
          <a:xfrm>
            <a:off x="6035040" y="2743200"/>
            <a:ext cx="2633472" cy="45720"/>
          </a:xfrm>
          <a:prstGeom prst="rect">
            <a:avLst/>
          </a:prstGeom>
          <a:solidFill>
            <a:srgbClr val="B8976A"/>
          </a:solidFill>
          <a:ln w="12700">
            <a:solidFill>
              <a:srgbClr val="B8976A"/>
            </a:solidFill>
            <a:prstDash val="solid"/>
          </a:ln>
        </p:spPr>
      </p:sp>
      <p:sp>
        <p:nvSpPr>
          <p:cNvPr id="38" name="Text 36"/>
          <p:cNvSpPr/>
          <p:nvPr/>
        </p:nvSpPr>
        <p:spPr>
          <a:xfrm>
            <a:off x="6163056" y="2816352"/>
            <a:ext cx="457200" cy="365760"/>
          </a:xfrm>
          <a:prstGeom prst="rect">
            <a:avLst/>
          </a:prstGeom>
          <a:noFill/>
          <a:ln/>
        </p:spPr>
        <p:txBody>
          <a:bodyPr wrap="square" lIns="0" tIns="0" rIns="0" bIns="0" rtlCol="0" anchor="ctr"/>
          <a:lstStyle/>
          <a:p>
            <a:pPr indent="0" marL="0">
              <a:buNone/>
            </a:pPr>
            <a:r>
              <a:rPr lang="en-US" sz="2200" b="1" dirty="0">
                <a:solidFill>
                  <a:srgbClr val="E8C080"/>
                </a:solidFill>
                <a:latin typeface="Georgia" pitchFamily="34" charset="0"/>
                <a:ea typeface="Georgia" pitchFamily="34" charset="-122"/>
                <a:cs typeface="Georgia" pitchFamily="34" charset="-120"/>
              </a:rPr>
              <a:t>P6</a:t>
            </a:r>
            <a:endParaRPr lang="en-US" sz="2200" dirty="0"/>
          </a:p>
        </p:txBody>
      </p:sp>
      <p:sp>
        <p:nvSpPr>
          <p:cNvPr id="39" name="Shape 37"/>
          <p:cNvSpPr/>
          <p:nvPr/>
        </p:nvSpPr>
        <p:spPr>
          <a:xfrm>
            <a:off x="6601968" y="2907792"/>
            <a:ext cx="1920240" cy="10973"/>
          </a:xfrm>
          <a:prstGeom prst="rect">
            <a:avLst/>
          </a:prstGeom>
          <a:solidFill>
            <a:srgbClr val="B8976A"/>
          </a:solidFill>
          <a:ln w="12700">
            <a:solidFill>
              <a:srgbClr val="B8976A"/>
            </a:solidFill>
            <a:prstDash val="solid"/>
          </a:ln>
        </p:spPr>
      </p:sp>
      <p:sp>
        <p:nvSpPr>
          <p:cNvPr id="40" name="Text 38"/>
          <p:cNvSpPr/>
          <p:nvPr/>
        </p:nvSpPr>
        <p:spPr>
          <a:xfrm>
            <a:off x="6163056" y="3218688"/>
            <a:ext cx="2432304" cy="548640"/>
          </a:xfrm>
          <a:prstGeom prst="rect">
            <a:avLst/>
          </a:prstGeom>
          <a:noFill/>
          <a:ln/>
        </p:spPr>
        <p:txBody>
          <a:bodyPr wrap="square" lIns="0" tIns="0" rIns="0" bIns="0" rtlCol="0" anchor="t"/>
          <a:lstStyle/>
          <a:p>
            <a:pPr indent="0" marL="0">
              <a:lnSpc>
                <a:spcPct val="130000"/>
              </a:lnSpc>
              <a:buNone/>
            </a:pPr>
            <a:r>
              <a:rPr lang="en-US" sz="1150" b="1" dirty="0">
                <a:solidFill>
                  <a:srgbClr val="FFFFFF"/>
                </a:solidFill>
                <a:latin typeface="MS Mincho" pitchFamily="34" charset="0"/>
                <a:ea typeface="MS Mincho" pitchFamily="34" charset="-122"/>
                <a:cs typeface="MS Mincho" pitchFamily="34" charset="-120"/>
              </a:rPr>
              <a:t>フォームジャーナリング</a:t>
            </a:r>
            <a:endParaRPr lang="en-US" sz="1150" dirty="0"/>
          </a:p>
        </p:txBody>
      </p:sp>
      <p:sp>
        <p:nvSpPr>
          <p:cNvPr id="41" name="Text 39"/>
          <p:cNvSpPr/>
          <p:nvPr/>
        </p:nvSpPr>
        <p:spPr>
          <a:xfrm>
            <a:off x="6163056" y="3767328"/>
            <a:ext cx="2432304" cy="475488"/>
          </a:xfrm>
          <a:prstGeom prst="rect">
            <a:avLst/>
          </a:prstGeom>
          <a:noFill/>
          <a:ln/>
        </p:spPr>
        <p:txBody>
          <a:bodyPr wrap="square" lIns="0" tIns="0" rIns="0" bIns="0" rtlCol="0" anchor="t"/>
          <a:lstStyle/>
          <a:p>
            <a:pPr indent="0" marL="0">
              <a:lnSpc>
                <a:spcPct val="130000"/>
              </a:lnSpc>
              <a:buNone/>
            </a:pPr>
            <a:r>
              <a:rPr lang="en-US" sz="900" dirty="0">
                <a:solidFill>
                  <a:srgbClr val="B8976A"/>
                </a:solidFill>
                <a:latin typeface="Meiryo" pitchFamily="34" charset="0"/>
                <a:ea typeface="Meiryo" pitchFamily="34" charset="-122"/>
                <a:cs typeface="Meiryo" pitchFamily="34" charset="-120"/>
              </a:rPr>
              <a:t>毎晩4つの問いで翌日を仕込む</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3A"/>
          </a:solidFill>
          <a:ln w="12700">
            <a:solidFill>
              <a:srgbClr val="1A3A3A"/>
            </a:solidFill>
            <a:prstDash val="solid"/>
          </a:ln>
        </p:spPr>
      </p:sp>
      <p:sp>
        <p:nvSpPr>
          <p:cNvPr id="3" name="Text 1"/>
          <p:cNvSpPr/>
          <p:nvPr/>
        </p:nvSpPr>
        <p:spPr>
          <a:xfrm>
            <a:off x="320040" y="0"/>
            <a:ext cx="1005840" cy="658368"/>
          </a:xfrm>
          <a:prstGeom prst="rect">
            <a:avLst/>
          </a:prstGeom>
          <a:noFill/>
          <a:ln/>
        </p:spPr>
        <p:txBody>
          <a:bodyPr wrap="square" lIns="0" tIns="0" rIns="0" bIns="0" rtlCol="0" anchor="ctr"/>
          <a:lstStyle/>
          <a:p>
            <a:pPr indent="0" marL="0">
              <a:buNone/>
            </a:pPr>
            <a:r>
              <a:rPr lang="en-US" sz="900" b="1" spc="300" kern="0" dirty="0">
                <a:solidFill>
                  <a:srgbClr val="B8976A"/>
                </a:solidFill>
                <a:latin typeface="Meiryo" pitchFamily="34" charset="0"/>
                <a:ea typeface="Meiryo" pitchFamily="34" charset="-122"/>
                <a:cs typeface="Meiryo" pitchFamily="34" charset="-120"/>
              </a:rPr>
              <a:t>PILLAR 1</a:t>
            </a:r>
            <a:endParaRPr lang="en-US" sz="900" dirty="0"/>
          </a:p>
        </p:txBody>
      </p:sp>
      <p:sp>
        <p:nvSpPr>
          <p:cNvPr id="4" name="Shape 2"/>
          <p:cNvSpPr/>
          <p:nvPr/>
        </p:nvSpPr>
        <p:spPr>
          <a:xfrm>
            <a:off x="1298448" y="155448"/>
            <a:ext cx="22860" cy="347472"/>
          </a:xfrm>
          <a:prstGeom prst="rect">
            <a:avLst/>
          </a:prstGeom>
          <a:solidFill>
            <a:srgbClr val="B8976A"/>
          </a:solidFill>
          <a:ln w="12700">
            <a:solidFill>
              <a:srgbClr val="B8976A"/>
            </a:solidFill>
            <a:prstDash val="solid"/>
          </a:ln>
        </p:spPr>
      </p:sp>
      <p:sp>
        <p:nvSpPr>
          <p:cNvPr id="5" name="Text 3"/>
          <p:cNvSpPr/>
          <p:nvPr/>
        </p:nvSpPr>
        <p:spPr>
          <a:xfrm>
            <a:off x="1417320" y="0"/>
            <a:ext cx="7132320" cy="658368"/>
          </a:xfrm>
          <a:prstGeom prst="rect">
            <a:avLst/>
          </a:prstGeom>
          <a:noFill/>
          <a:ln/>
        </p:spPr>
        <p:txBody>
          <a:bodyPr wrap="square" lIns="0" tIns="0" rIns="0" bIns="0" rtlCol="0" anchor="ctr"/>
          <a:lstStyle/>
          <a:p>
            <a:pPr indent="0" marL="0">
              <a:buNone/>
            </a:pPr>
            <a:r>
              <a:rPr lang="en-US" sz="1800" b="1" dirty="0">
                <a:solidFill>
                  <a:srgbClr val="FFFFFF"/>
                </a:solidFill>
                <a:latin typeface="MS Mincho" pitchFamily="34" charset="0"/>
                <a:ea typeface="MS Mincho" pitchFamily="34" charset="-122"/>
                <a:cs typeface="MS Mincho" pitchFamily="34" charset="-120"/>
              </a:rPr>
              <a:t>神経系の燃料を整える</a:t>
            </a:r>
            <a:endParaRPr lang="en-US" sz="1800" dirty="0"/>
          </a:p>
        </p:txBody>
      </p:sp>
      <p:sp>
        <p:nvSpPr>
          <p:cNvPr id="6" name="Shape 4"/>
          <p:cNvSpPr/>
          <p:nvPr/>
        </p:nvSpPr>
        <p:spPr>
          <a:xfrm>
            <a:off x="0" y="658368"/>
            <a:ext cx="9144000" cy="36576"/>
          </a:xfrm>
          <a:prstGeom prst="rect">
            <a:avLst/>
          </a:prstGeom>
          <a:solidFill>
            <a:srgbClr val="B8976A"/>
          </a:solidFill>
          <a:ln w="12700">
            <a:solidFill>
              <a:srgbClr val="B8976A"/>
            </a:solidFill>
            <a:prstDash val="solid"/>
          </a:ln>
        </p:spPr>
      </p:sp>
      <p:sp>
        <p:nvSpPr>
          <p:cNvPr id="7" name="Text 5"/>
          <p:cNvSpPr/>
          <p:nvPr/>
        </p:nvSpPr>
        <p:spPr>
          <a:xfrm>
            <a:off x="320040" y="749808"/>
            <a:ext cx="8503920" cy="320040"/>
          </a:xfrm>
          <a:prstGeom prst="rect">
            <a:avLst/>
          </a:prstGeom>
          <a:noFill/>
          <a:ln/>
        </p:spPr>
        <p:txBody>
          <a:bodyPr wrap="square" lIns="0" tIns="0" rIns="0" bIns="0" rtlCol="0" anchor="ctr"/>
          <a:lstStyle/>
          <a:p>
            <a:pPr indent="0" marL="0">
              <a:buNone/>
            </a:pPr>
            <a:r>
              <a:rPr lang="en-US" sz="1050" i="1" dirty="0">
                <a:solidFill>
                  <a:srgbClr val="5A5A5A"/>
                </a:solidFill>
                <a:latin typeface="Meiryo" pitchFamily="34" charset="0"/>
                <a:ea typeface="Meiryo" pitchFamily="34" charset="-122"/>
                <a:cs typeface="Meiryo" pitchFamily="34" charset="-120"/>
              </a:rPr>
              <a:t>食事から神経伝達物質の原料を整え、緊張しにくい神経系の土台を作る</a:t>
            </a:r>
            <a:endParaRPr lang="en-US" sz="1050" dirty="0"/>
          </a:p>
        </p:txBody>
      </p:sp>
      <p:sp>
        <p:nvSpPr>
          <p:cNvPr id="8" name="Shape 6"/>
          <p:cNvSpPr/>
          <p:nvPr/>
        </p:nvSpPr>
        <p:spPr>
          <a:xfrm>
            <a:off x="320040" y="1188720"/>
            <a:ext cx="4069080" cy="3703320"/>
          </a:xfrm>
          <a:prstGeom prst="rect">
            <a:avLst/>
          </a:prstGeom>
          <a:solidFill>
            <a:srgbClr val="F5F0E8"/>
          </a:solidFill>
          <a:ln w="9525">
            <a:solidFill>
              <a:srgbClr val="B8976A"/>
            </a:solidFill>
            <a:prstDash val="solid"/>
          </a:ln>
        </p:spPr>
      </p:sp>
      <p:sp>
        <p:nvSpPr>
          <p:cNvPr id="9" name="Shape 7"/>
          <p:cNvSpPr/>
          <p:nvPr/>
        </p:nvSpPr>
        <p:spPr>
          <a:xfrm>
            <a:off x="320040" y="1188720"/>
            <a:ext cx="54864" cy="3703320"/>
          </a:xfrm>
          <a:prstGeom prst="rect">
            <a:avLst/>
          </a:prstGeom>
          <a:solidFill>
            <a:srgbClr val="B8976A"/>
          </a:solidFill>
          <a:ln w="12700">
            <a:solidFill>
              <a:srgbClr val="B8976A"/>
            </a:solidFill>
            <a:prstDash val="solid"/>
          </a:ln>
        </p:spPr>
      </p:sp>
      <p:sp>
        <p:nvSpPr>
          <p:cNvPr id="10" name="Text 8"/>
          <p:cNvSpPr/>
          <p:nvPr/>
        </p:nvSpPr>
        <p:spPr>
          <a:xfrm>
            <a:off x="484632" y="1280160"/>
            <a:ext cx="3794760" cy="301752"/>
          </a:xfrm>
          <a:prstGeom prst="rect">
            <a:avLst/>
          </a:prstGeom>
          <a:noFill/>
          <a:ln/>
        </p:spPr>
        <p:txBody>
          <a:bodyPr wrap="square" lIns="0" tIns="0" rIns="0" bIns="0" rtlCol="0" anchor="ctr"/>
          <a:lstStyle/>
          <a:p>
            <a:pPr indent="0" marL="0">
              <a:buNone/>
            </a:pPr>
            <a:r>
              <a:rPr lang="en-US" sz="1050" b="1" dirty="0">
                <a:solidFill>
                  <a:srgbClr val="1A3A3A"/>
                </a:solidFill>
                <a:latin typeface="Meiryo" pitchFamily="34" charset="0"/>
                <a:ea typeface="Meiryo" pitchFamily="34" charset="-122"/>
                <a:cs typeface="Meiryo" pitchFamily="34" charset="-120"/>
              </a:rPr>
              <a:t>具体的な実践</a:t>
            </a:r>
            <a:endParaRPr lang="en-US" sz="1050" dirty="0"/>
          </a:p>
        </p:txBody>
      </p:sp>
      <p:sp>
        <p:nvSpPr>
          <p:cNvPr id="11" name="Shape 9"/>
          <p:cNvSpPr/>
          <p:nvPr/>
        </p:nvSpPr>
        <p:spPr>
          <a:xfrm>
            <a:off x="448056" y="1609344"/>
            <a:ext cx="3813048" cy="10973"/>
          </a:xfrm>
          <a:prstGeom prst="rect">
            <a:avLst/>
          </a:prstGeom>
          <a:solidFill>
            <a:srgbClr val="B8976A"/>
          </a:solidFill>
          <a:ln w="12700">
            <a:solidFill>
              <a:srgbClr val="B8976A"/>
            </a:solidFill>
            <a:prstDash val="solid"/>
          </a:ln>
        </p:spPr>
      </p:sp>
      <p:sp>
        <p:nvSpPr>
          <p:cNvPr id="12" name="Text 10"/>
          <p:cNvSpPr/>
          <p:nvPr/>
        </p:nvSpPr>
        <p:spPr>
          <a:xfrm>
            <a:off x="48463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朝の良質なたんぱく質：卵・魚・豆腐・鶏肉（神経伝達物質の原料）</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マグネシウム豊富な食品：かぼちゃの種・ごま・ひじき・納豆・ほうれん草</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B6豊富な食品：かつお・まぐろ・鶏むね肉・バナナ（GABA・セロトニン合成に関わる補酵素）</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オメガ3：さば・いわし・さんまを週2〜3回</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発酵食品を毎日：味噌・納豆・ぬか漬け（腸内環境を整える）</a:t>
            </a:r>
            <a:endParaRPr lang="en-US" sz="1050" dirty="0"/>
          </a:p>
        </p:txBody>
      </p:sp>
      <p:sp>
        <p:nvSpPr>
          <p:cNvPr id="13" name="Shape 11"/>
          <p:cNvSpPr/>
          <p:nvPr/>
        </p:nvSpPr>
        <p:spPr>
          <a:xfrm>
            <a:off x="4754880" y="1188720"/>
            <a:ext cx="4069080" cy="3703320"/>
          </a:xfrm>
          <a:prstGeom prst="rect">
            <a:avLst/>
          </a:prstGeom>
          <a:solidFill>
            <a:srgbClr val="1A3A3A"/>
          </a:solidFill>
          <a:ln w="12700">
            <a:solidFill>
              <a:srgbClr val="1A3A3A"/>
            </a:solidFill>
            <a:prstDash val="solid"/>
          </a:ln>
        </p:spPr>
      </p:sp>
      <p:sp>
        <p:nvSpPr>
          <p:cNvPr id="14" name="Shape 12"/>
          <p:cNvSpPr/>
          <p:nvPr/>
        </p:nvSpPr>
        <p:spPr>
          <a:xfrm>
            <a:off x="4754880" y="1188720"/>
            <a:ext cx="4069080" cy="50292"/>
          </a:xfrm>
          <a:prstGeom prst="rect">
            <a:avLst/>
          </a:prstGeom>
          <a:solidFill>
            <a:srgbClr val="B8976A"/>
          </a:solidFill>
          <a:ln w="12700">
            <a:solidFill>
              <a:srgbClr val="B8976A"/>
            </a:solidFill>
            <a:prstDash val="solid"/>
          </a:ln>
        </p:spPr>
      </p:sp>
      <p:sp>
        <p:nvSpPr>
          <p:cNvPr id="15" name="Text 13"/>
          <p:cNvSpPr/>
          <p:nvPr/>
        </p:nvSpPr>
        <p:spPr>
          <a:xfrm>
            <a:off x="4919472" y="1280160"/>
            <a:ext cx="3794760" cy="301752"/>
          </a:xfrm>
          <a:prstGeom prst="rect">
            <a:avLst/>
          </a:prstGeom>
          <a:noFill/>
          <a:ln/>
        </p:spPr>
        <p:txBody>
          <a:bodyPr wrap="square" lIns="0" tIns="0" rIns="0" bIns="0" rtlCol="0" anchor="ctr"/>
          <a:lstStyle/>
          <a:p>
            <a:pPr indent="0" marL="0">
              <a:buNone/>
            </a:pPr>
            <a:r>
              <a:rPr lang="en-US" sz="1050" b="1" dirty="0">
                <a:solidFill>
                  <a:srgbClr val="B8976A"/>
                </a:solidFill>
                <a:latin typeface="Meiryo" pitchFamily="34" charset="0"/>
                <a:ea typeface="Meiryo" pitchFamily="34" charset="-122"/>
                <a:cs typeface="Meiryo" pitchFamily="34" charset="-120"/>
              </a:rPr>
              <a:t>なぜ効くのか</a:t>
            </a:r>
            <a:endParaRPr lang="en-US" sz="1050" dirty="0"/>
          </a:p>
        </p:txBody>
      </p:sp>
      <p:sp>
        <p:nvSpPr>
          <p:cNvPr id="16" name="Shape 14"/>
          <p:cNvSpPr/>
          <p:nvPr/>
        </p:nvSpPr>
        <p:spPr>
          <a:xfrm>
            <a:off x="4882896" y="1609344"/>
            <a:ext cx="3813048" cy="10973"/>
          </a:xfrm>
          <a:prstGeom prst="rect">
            <a:avLst/>
          </a:prstGeom>
          <a:solidFill>
            <a:srgbClr val="B8976A"/>
          </a:solidFill>
          <a:ln w="12700">
            <a:solidFill>
              <a:srgbClr val="B8976A"/>
            </a:solidFill>
            <a:prstDash val="solid"/>
          </a:ln>
        </p:spPr>
      </p:sp>
      <p:sp>
        <p:nvSpPr>
          <p:cNvPr id="17" name="Text 15"/>
          <p:cNvSpPr/>
          <p:nvPr/>
        </p:nvSpPr>
        <p:spPr>
          <a:xfrm>
            <a:off x="491947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マグネシウムは神経の興奮を抑える方向に働く（NMDA受容体の調整・GABA系への関与）</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ビタミンB6はGABA・セロトニン合成に関わる補酵素。緊張しやすい人で見落とされがち</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腸内環境は迷走神経を介して自律神経の状態に間接的に影響する。日本の発酵食文化が役立つ</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ビタミンDは神経伝達に関与（VDR受容体）。日光を第一に、不足が認められた場合に補充を検討</a:t>
            </a:r>
            <a:endParaRPr lang="en-US" sz="1050" dirty="0"/>
          </a:p>
        </p:txBody>
      </p:sp>
      <p:sp>
        <p:nvSpPr>
          <p:cNvPr id="18" name="Text 16"/>
          <p:cNvSpPr/>
          <p:nvPr/>
        </p:nvSpPr>
        <p:spPr>
          <a:xfrm>
            <a:off x="6400800" y="4828032"/>
            <a:ext cx="2560320" cy="228600"/>
          </a:xfrm>
          <a:prstGeom prst="rect">
            <a:avLst/>
          </a:prstGeom>
          <a:noFill/>
          <a:ln/>
        </p:spPr>
        <p:txBody>
          <a:bodyPr wrap="square" lIns="0" tIns="0" rIns="0" bIns="0" rtlCol="0" anchor="ctr"/>
          <a:lstStyle/>
          <a:p>
            <a:pPr algn="r" indent="0" marL="0">
              <a:buNone/>
            </a:pPr>
            <a:r>
              <a:rPr lang="en-US" sz="800" dirty="0">
                <a:solidFill>
                  <a:srgbClr val="B8976A"/>
                </a:solidFill>
                <a:latin typeface="Meiryo" pitchFamily="34" charset="0"/>
                <a:ea typeface="Meiryo" pitchFamily="34" charset="-122"/>
                <a:cs typeface="Meiryo" pitchFamily="34" charset="-120"/>
              </a:rPr>
              <a:t>Na'au Noa  |  PILLAR 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3A"/>
          </a:solidFill>
          <a:ln w="12700">
            <a:solidFill>
              <a:srgbClr val="1A3A3A"/>
            </a:solidFill>
            <a:prstDash val="solid"/>
          </a:ln>
        </p:spPr>
      </p:sp>
      <p:sp>
        <p:nvSpPr>
          <p:cNvPr id="3" name="Text 1"/>
          <p:cNvSpPr/>
          <p:nvPr/>
        </p:nvSpPr>
        <p:spPr>
          <a:xfrm>
            <a:off x="320040" y="0"/>
            <a:ext cx="1005840" cy="658368"/>
          </a:xfrm>
          <a:prstGeom prst="rect">
            <a:avLst/>
          </a:prstGeom>
          <a:noFill/>
          <a:ln/>
        </p:spPr>
        <p:txBody>
          <a:bodyPr wrap="square" lIns="0" tIns="0" rIns="0" bIns="0" rtlCol="0" anchor="ctr"/>
          <a:lstStyle/>
          <a:p>
            <a:pPr indent="0" marL="0">
              <a:buNone/>
            </a:pPr>
            <a:r>
              <a:rPr lang="en-US" sz="900" b="1" spc="300" kern="0" dirty="0">
                <a:solidFill>
                  <a:srgbClr val="B8976A"/>
                </a:solidFill>
                <a:latin typeface="Meiryo" pitchFamily="34" charset="0"/>
                <a:ea typeface="Meiryo" pitchFamily="34" charset="-122"/>
                <a:cs typeface="Meiryo" pitchFamily="34" charset="-120"/>
              </a:rPr>
              <a:t>PILLAR 2</a:t>
            </a:r>
            <a:endParaRPr lang="en-US" sz="900" dirty="0"/>
          </a:p>
        </p:txBody>
      </p:sp>
      <p:sp>
        <p:nvSpPr>
          <p:cNvPr id="4" name="Shape 2"/>
          <p:cNvSpPr/>
          <p:nvPr/>
        </p:nvSpPr>
        <p:spPr>
          <a:xfrm>
            <a:off x="1298448" y="155448"/>
            <a:ext cx="22860" cy="347472"/>
          </a:xfrm>
          <a:prstGeom prst="rect">
            <a:avLst/>
          </a:prstGeom>
          <a:solidFill>
            <a:srgbClr val="B8976A"/>
          </a:solidFill>
          <a:ln w="12700">
            <a:solidFill>
              <a:srgbClr val="B8976A"/>
            </a:solidFill>
            <a:prstDash val="solid"/>
          </a:ln>
        </p:spPr>
      </p:sp>
      <p:sp>
        <p:nvSpPr>
          <p:cNvPr id="5" name="Text 3"/>
          <p:cNvSpPr/>
          <p:nvPr/>
        </p:nvSpPr>
        <p:spPr>
          <a:xfrm>
            <a:off x="1417320" y="0"/>
            <a:ext cx="7132320" cy="658368"/>
          </a:xfrm>
          <a:prstGeom prst="rect">
            <a:avLst/>
          </a:prstGeom>
          <a:noFill/>
          <a:ln/>
        </p:spPr>
        <p:txBody>
          <a:bodyPr wrap="square" lIns="0" tIns="0" rIns="0" bIns="0" rtlCol="0" anchor="ctr"/>
          <a:lstStyle/>
          <a:p>
            <a:pPr indent="0" marL="0">
              <a:buNone/>
            </a:pPr>
            <a:r>
              <a:rPr lang="en-US" sz="1800" b="1" dirty="0">
                <a:solidFill>
                  <a:srgbClr val="FFFFFF"/>
                </a:solidFill>
                <a:latin typeface="MS Mincho" pitchFamily="34" charset="0"/>
                <a:ea typeface="MS Mincho" pitchFamily="34" charset="-122"/>
                <a:cs typeface="MS Mincho" pitchFamily="34" charset="-120"/>
              </a:rPr>
              <a:t>呼吸の土台を作る</a:t>
            </a:r>
            <a:endParaRPr lang="en-US" sz="1800" dirty="0"/>
          </a:p>
        </p:txBody>
      </p:sp>
      <p:sp>
        <p:nvSpPr>
          <p:cNvPr id="6" name="Shape 4"/>
          <p:cNvSpPr/>
          <p:nvPr/>
        </p:nvSpPr>
        <p:spPr>
          <a:xfrm>
            <a:off x="0" y="658368"/>
            <a:ext cx="9144000" cy="36576"/>
          </a:xfrm>
          <a:prstGeom prst="rect">
            <a:avLst/>
          </a:prstGeom>
          <a:solidFill>
            <a:srgbClr val="B8976A"/>
          </a:solidFill>
          <a:ln w="12700">
            <a:solidFill>
              <a:srgbClr val="B8976A"/>
            </a:solidFill>
            <a:prstDash val="solid"/>
          </a:ln>
        </p:spPr>
      </p:sp>
      <p:sp>
        <p:nvSpPr>
          <p:cNvPr id="7" name="Text 5"/>
          <p:cNvSpPr/>
          <p:nvPr/>
        </p:nvSpPr>
        <p:spPr>
          <a:xfrm>
            <a:off x="320040" y="749808"/>
            <a:ext cx="8503920" cy="320040"/>
          </a:xfrm>
          <a:prstGeom prst="rect">
            <a:avLst/>
          </a:prstGeom>
          <a:noFill/>
          <a:ln/>
        </p:spPr>
        <p:txBody>
          <a:bodyPr wrap="square" lIns="0" tIns="0" rIns="0" bIns="0" rtlCol="0" anchor="ctr"/>
          <a:lstStyle/>
          <a:p>
            <a:pPr indent="0" marL="0">
              <a:buNone/>
            </a:pPr>
            <a:r>
              <a:rPr lang="en-US" sz="1050" i="1" dirty="0">
                <a:solidFill>
                  <a:srgbClr val="5A5A5A"/>
                </a:solidFill>
                <a:latin typeface="Meiryo" pitchFamily="34" charset="0"/>
                <a:ea typeface="Meiryo" pitchFamily="34" charset="-122"/>
                <a:cs typeface="Meiryo" pitchFamily="34" charset="-120"/>
              </a:rPr>
              <a:t>骨盤・横隔膜を整え、浅い胸式呼吸から深い腹式呼吸へ</a:t>
            </a:r>
            <a:endParaRPr lang="en-US" sz="1050" dirty="0"/>
          </a:p>
        </p:txBody>
      </p:sp>
      <p:sp>
        <p:nvSpPr>
          <p:cNvPr id="8" name="Shape 6"/>
          <p:cNvSpPr/>
          <p:nvPr/>
        </p:nvSpPr>
        <p:spPr>
          <a:xfrm>
            <a:off x="320040" y="1188720"/>
            <a:ext cx="4069080" cy="3703320"/>
          </a:xfrm>
          <a:prstGeom prst="rect">
            <a:avLst/>
          </a:prstGeom>
          <a:solidFill>
            <a:srgbClr val="F5F0E8"/>
          </a:solidFill>
          <a:ln w="9525">
            <a:solidFill>
              <a:srgbClr val="B8976A"/>
            </a:solidFill>
            <a:prstDash val="solid"/>
          </a:ln>
        </p:spPr>
      </p:sp>
      <p:sp>
        <p:nvSpPr>
          <p:cNvPr id="9" name="Shape 7"/>
          <p:cNvSpPr/>
          <p:nvPr/>
        </p:nvSpPr>
        <p:spPr>
          <a:xfrm>
            <a:off x="320040" y="1188720"/>
            <a:ext cx="54864" cy="3703320"/>
          </a:xfrm>
          <a:prstGeom prst="rect">
            <a:avLst/>
          </a:prstGeom>
          <a:solidFill>
            <a:srgbClr val="B8976A"/>
          </a:solidFill>
          <a:ln w="12700">
            <a:solidFill>
              <a:srgbClr val="B8976A"/>
            </a:solidFill>
            <a:prstDash val="solid"/>
          </a:ln>
        </p:spPr>
      </p:sp>
      <p:sp>
        <p:nvSpPr>
          <p:cNvPr id="10" name="Text 8"/>
          <p:cNvSpPr/>
          <p:nvPr/>
        </p:nvSpPr>
        <p:spPr>
          <a:xfrm>
            <a:off x="484632" y="1280160"/>
            <a:ext cx="3794760" cy="301752"/>
          </a:xfrm>
          <a:prstGeom prst="rect">
            <a:avLst/>
          </a:prstGeom>
          <a:noFill/>
          <a:ln/>
        </p:spPr>
        <p:txBody>
          <a:bodyPr wrap="square" lIns="0" tIns="0" rIns="0" bIns="0" rtlCol="0" anchor="ctr"/>
          <a:lstStyle/>
          <a:p>
            <a:pPr indent="0" marL="0">
              <a:buNone/>
            </a:pPr>
            <a:r>
              <a:rPr lang="en-US" sz="1050" b="1" dirty="0">
                <a:solidFill>
                  <a:srgbClr val="1A3A3A"/>
                </a:solidFill>
                <a:latin typeface="Meiryo" pitchFamily="34" charset="0"/>
                <a:ea typeface="Meiryo" pitchFamily="34" charset="-122"/>
                <a:cs typeface="Meiryo" pitchFamily="34" charset="-120"/>
              </a:rPr>
              <a:t>具体的な実践</a:t>
            </a:r>
            <a:endParaRPr lang="en-US" sz="1050" dirty="0"/>
          </a:p>
        </p:txBody>
      </p:sp>
      <p:sp>
        <p:nvSpPr>
          <p:cNvPr id="11" name="Shape 9"/>
          <p:cNvSpPr/>
          <p:nvPr/>
        </p:nvSpPr>
        <p:spPr>
          <a:xfrm>
            <a:off x="448056" y="1609344"/>
            <a:ext cx="3813048" cy="10973"/>
          </a:xfrm>
          <a:prstGeom prst="rect">
            <a:avLst/>
          </a:prstGeom>
          <a:solidFill>
            <a:srgbClr val="B8976A"/>
          </a:solidFill>
          <a:ln w="12700">
            <a:solidFill>
              <a:srgbClr val="B8976A"/>
            </a:solidFill>
            <a:prstDash val="solid"/>
          </a:ln>
        </p:spPr>
      </p:sp>
      <p:sp>
        <p:nvSpPr>
          <p:cNvPr id="12" name="Text 10"/>
          <p:cNvSpPr/>
          <p:nvPr/>
        </p:nvSpPr>
        <p:spPr>
          <a:xfrm>
            <a:off x="48463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キャットアンドカウ：四つ這い位で背骨を波のように動かす（毎朝10〜15回）</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腸腰筋リリース：ランジ姿勢で片側1分ずつ股関節前面をゆっくり伸ばす（毎朝・長座業後）</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ハムストリング強化：ヒップリフトとランジを週2〜3回</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横隔膜を使った深い腹式呼吸を日常に組み込む</a:t>
            </a:r>
            <a:endParaRPr lang="en-US" sz="1050" dirty="0"/>
          </a:p>
        </p:txBody>
      </p:sp>
      <p:sp>
        <p:nvSpPr>
          <p:cNvPr id="13" name="Shape 11"/>
          <p:cNvSpPr/>
          <p:nvPr/>
        </p:nvSpPr>
        <p:spPr>
          <a:xfrm>
            <a:off x="4754880" y="1188720"/>
            <a:ext cx="4069080" cy="3703320"/>
          </a:xfrm>
          <a:prstGeom prst="rect">
            <a:avLst/>
          </a:prstGeom>
          <a:solidFill>
            <a:srgbClr val="1A3A3A"/>
          </a:solidFill>
          <a:ln w="12700">
            <a:solidFill>
              <a:srgbClr val="1A3A3A"/>
            </a:solidFill>
            <a:prstDash val="solid"/>
          </a:ln>
        </p:spPr>
      </p:sp>
      <p:sp>
        <p:nvSpPr>
          <p:cNvPr id="14" name="Shape 12"/>
          <p:cNvSpPr/>
          <p:nvPr/>
        </p:nvSpPr>
        <p:spPr>
          <a:xfrm>
            <a:off x="4754880" y="1188720"/>
            <a:ext cx="4069080" cy="50292"/>
          </a:xfrm>
          <a:prstGeom prst="rect">
            <a:avLst/>
          </a:prstGeom>
          <a:solidFill>
            <a:srgbClr val="B8976A"/>
          </a:solidFill>
          <a:ln w="12700">
            <a:solidFill>
              <a:srgbClr val="B8976A"/>
            </a:solidFill>
            <a:prstDash val="solid"/>
          </a:ln>
        </p:spPr>
      </p:sp>
      <p:sp>
        <p:nvSpPr>
          <p:cNvPr id="15" name="Text 13"/>
          <p:cNvSpPr/>
          <p:nvPr/>
        </p:nvSpPr>
        <p:spPr>
          <a:xfrm>
            <a:off x="4919472" y="1280160"/>
            <a:ext cx="3794760" cy="301752"/>
          </a:xfrm>
          <a:prstGeom prst="rect">
            <a:avLst/>
          </a:prstGeom>
          <a:noFill/>
          <a:ln/>
        </p:spPr>
        <p:txBody>
          <a:bodyPr wrap="square" lIns="0" tIns="0" rIns="0" bIns="0" rtlCol="0" anchor="ctr"/>
          <a:lstStyle/>
          <a:p>
            <a:pPr indent="0" marL="0">
              <a:buNone/>
            </a:pPr>
            <a:r>
              <a:rPr lang="en-US" sz="1050" b="1" dirty="0">
                <a:solidFill>
                  <a:srgbClr val="B8976A"/>
                </a:solidFill>
                <a:latin typeface="Meiryo" pitchFamily="34" charset="0"/>
                <a:ea typeface="Meiryo" pitchFamily="34" charset="-122"/>
                <a:cs typeface="Meiryo" pitchFamily="34" charset="-120"/>
              </a:rPr>
              <a:t>なぜ効くのか</a:t>
            </a:r>
            <a:endParaRPr lang="en-US" sz="1050" dirty="0"/>
          </a:p>
        </p:txBody>
      </p:sp>
      <p:sp>
        <p:nvSpPr>
          <p:cNvPr id="16" name="Shape 14"/>
          <p:cNvSpPr/>
          <p:nvPr/>
        </p:nvSpPr>
        <p:spPr>
          <a:xfrm>
            <a:off x="4882896" y="1609344"/>
            <a:ext cx="3813048" cy="10973"/>
          </a:xfrm>
          <a:prstGeom prst="rect">
            <a:avLst/>
          </a:prstGeom>
          <a:solidFill>
            <a:srgbClr val="B8976A"/>
          </a:solidFill>
          <a:ln w="12700">
            <a:solidFill>
              <a:srgbClr val="B8976A"/>
            </a:solidFill>
            <a:prstDash val="solid"/>
          </a:ln>
        </p:spPr>
      </p:sp>
      <p:sp>
        <p:nvSpPr>
          <p:cNvPr id="17" name="Text 15"/>
          <p:cNvSpPr/>
          <p:nvPr/>
        </p:nvSpPr>
        <p:spPr>
          <a:xfrm>
            <a:off x="491947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骨盤前傾・腸腰筋の過緊張 → 横隔膜の動きが制限 → 浅い胸式呼吸 → 慢性的な交感神経優位</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「後ろを鍛える（ハムストリング強化）」と「前を緩める（腸腰筋リリース）」の両方が骨盤安定に役立つ</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キャットアンドカウで胸椎・肋骨の動きを引き出し、横隔膜を動かす準備になる</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腹式呼吸はゆっくりとした長い呼気で副交感神経（安静・回復モード）の有力なトリガー</a:t>
            </a:r>
            <a:endParaRPr lang="en-US" sz="1050" dirty="0"/>
          </a:p>
        </p:txBody>
      </p:sp>
      <p:sp>
        <p:nvSpPr>
          <p:cNvPr id="18" name="Text 16"/>
          <p:cNvSpPr/>
          <p:nvPr/>
        </p:nvSpPr>
        <p:spPr>
          <a:xfrm>
            <a:off x="6400800" y="4828032"/>
            <a:ext cx="2560320" cy="228600"/>
          </a:xfrm>
          <a:prstGeom prst="rect">
            <a:avLst/>
          </a:prstGeom>
          <a:noFill/>
          <a:ln/>
        </p:spPr>
        <p:txBody>
          <a:bodyPr wrap="square" lIns="0" tIns="0" rIns="0" bIns="0" rtlCol="0" anchor="ctr"/>
          <a:lstStyle/>
          <a:p>
            <a:pPr algn="r" indent="0" marL="0">
              <a:buNone/>
            </a:pPr>
            <a:r>
              <a:rPr lang="en-US" sz="800" dirty="0">
                <a:solidFill>
                  <a:srgbClr val="B8976A"/>
                </a:solidFill>
                <a:latin typeface="Meiryo" pitchFamily="34" charset="0"/>
                <a:ea typeface="Meiryo" pitchFamily="34" charset="-122"/>
                <a:cs typeface="Meiryo" pitchFamily="34" charset="-120"/>
              </a:rPr>
              <a:t>Na'au Noa  |  PILLAR 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3A"/>
          </a:solidFill>
          <a:ln w="12700">
            <a:solidFill>
              <a:srgbClr val="1A3A3A"/>
            </a:solidFill>
            <a:prstDash val="solid"/>
          </a:ln>
        </p:spPr>
      </p:sp>
      <p:sp>
        <p:nvSpPr>
          <p:cNvPr id="3" name="Text 1"/>
          <p:cNvSpPr/>
          <p:nvPr/>
        </p:nvSpPr>
        <p:spPr>
          <a:xfrm>
            <a:off x="320040" y="0"/>
            <a:ext cx="1005840" cy="658368"/>
          </a:xfrm>
          <a:prstGeom prst="rect">
            <a:avLst/>
          </a:prstGeom>
          <a:noFill/>
          <a:ln/>
        </p:spPr>
        <p:txBody>
          <a:bodyPr wrap="square" lIns="0" tIns="0" rIns="0" bIns="0" rtlCol="0" anchor="ctr"/>
          <a:lstStyle/>
          <a:p>
            <a:pPr indent="0" marL="0">
              <a:buNone/>
            </a:pPr>
            <a:r>
              <a:rPr lang="en-US" sz="900" b="1" spc="300" kern="0" dirty="0">
                <a:solidFill>
                  <a:srgbClr val="B8976A"/>
                </a:solidFill>
                <a:latin typeface="Meiryo" pitchFamily="34" charset="0"/>
                <a:ea typeface="Meiryo" pitchFamily="34" charset="-122"/>
                <a:cs typeface="Meiryo" pitchFamily="34" charset="-120"/>
              </a:rPr>
              <a:t>PILLAR 3</a:t>
            </a:r>
            <a:endParaRPr lang="en-US" sz="900" dirty="0"/>
          </a:p>
        </p:txBody>
      </p:sp>
      <p:sp>
        <p:nvSpPr>
          <p:cNvPr id="4" name="Shape 2"/>
          <p:cNvSpPr/>
          <p:nvPr/>
        </p:nvSpPr>
        <p:spPr>
          <a:xfrm>
            <a:off x="1298448" y="155448"/>
            <a:ext cx="22860" cy="347472"/>
          </a:xfrm>
          <a:prstGeom prst="rect">
            <a:avLst/>
          </a:prstGeom>
          <a:solidFill>
            <a:srgbClr val="B8976A"/>
          </a:solidFill>
          <a:ln w="12700">
            <a:solidFill>
              <a:srgbClr val="B8976A"/>
            </a:solidFill>
            <a:prstDash val="solid"/>
          </a:ln>
        </p:spPr>
      </p:sp>
      <p:sp>
        <p:nvSpPr>
          <p:cNvPr id="5" name="Text 3"/>
          <p:cNvSpPr/>
          <p:nvPr/>
        </p:nvSpPr>
        <p:spPr>
          <a:xfrm>
            <a:off x="1417320" y="0"/>
            <a:ext cx="7132320" cy="658368"/>
          </a:xfrm>
          <a:prstGeom prst="rect">
            <a:avLst/>
          </a:prstGeom>
          <a:noFill/>
          <a:ln/>
        </p:spPr>
        <p:txBody>
          <a:bodyPr wrap="square" lIns="0" tIns="0" rIns="0" bIns="0" rtlCol="0" anchor="ctr"/>
          <a:lstStyle/>
          <a:p>
            <a:pPr indent="0" marL="0">
              <a:buNone/>
            </a:pPr>
            <a:r>
              <a:rPr lang="en-US" sz="1800" b="1" dirty="0">
                <a:solidFill>
                  <a:srgbClr val="FFFFFF"/>
                </a:solidFill>
                <a:latin typeface="MS Mincho" pitchFamily="34" charset="0"/>
                <a:ea typeface="MS Mincho" pitchFamily="34" charset="-122"/>
                <a:cs typeface="MS Mincho" pitchFamily="34" charset="-120"/>
              </a:rPr>
              <a:t>Ha呼吸で自律神経のブレーキを育てる</a:t>
            </a:r>
            <a:endParaRPr lang="en-US" sz="1800" dirty="0"/>
          </a:p>
        </p:txBody>
      </p:sp>
      <p:sp>
        <p:nvSpPr>
          <p:cNvPr id="6" name="Shape 4"/>
          <p:cNvSpPr/>
          <p:nvPr/>
        </p:nvSpPr>
        <p:spPr>
          <a:xfrm>
            <a:off x="0" y="658368"/>
            <a:ext cx="9144000" cy="36576"/>
          </a:xfrm>
          <a:prstGeom prst="rect">
            <a:avLst/>
          </a:prstGeom>
          <a:solidFill>
            <a:srgbClr val="B8976A"/>
          </a:solidFill>
          <a:ln w="12700">
            <a:solidFill>
              <a:srgbClr val="B8976A"/>
            </a:solidFill>
            <a:prstDash val="solid"/>
          </a:ln>
        </p:spPr>
      </p:sp>
      <p:sp>
        <p:nvSpPr>
          <p:cNvPr id="7" name="Text 5"/>
          <p:cNvSpPr/>
          <p:nvPr/>
        </p:nvSpPr>
        <p:spPr>
          <a:xfrm>
            <a:off x="320040" y="749808"/>
            <a:ext cx="8503920" cy="320040"/>
          </a:xfrm>
          <a:prstGeom prst="rect">
            <a:avLst/>
          </a:prstGeom>
          <a:noFill/>
          <a:ln/>
        </p:spPr>
        <p:txBody>
          <a:bodyPr wrap="square" lIns="0" tIns="0" rIns="0" bIns="0" rtlCol="0" anchor="ctr"/>
          <a:lstStyle/>
          <a:p>
            <a:pPr indent="0" marL="0">
              <a:buNone/>
            </a:pPr>
            <a:r>
              <a:rPr lang="en-US" sz="1050" i="1" dirty="0">
                <a:solidFill>
                  <a:srgbClr val="5A5A5A"/>
                </a:solidFill>
                <a:latin typeface="Meiryo" pitchFamily="34" charset="0"/>
                <a:ea typeface="Meiryo" pitchFamily="34" charset="-122"/>
                <a:cs typeface="Meiryo" pitchFamily="34" charset="-120"/>
              </a:rPr>
              <a:t>迷走神経を毎日刺激し、落ち着きを保てる神経系を育てる</a:t>
            </a:r>
            <a:endParaRPr lang="en-US" sz="1050" dirty="0"/>
          </a:p>
        </p:txBody>
      </p:sp>
      <p:sp>
        <p:nvSpPr>
          <p:cNvPr id="8" name="Shape 6"/>
          <p:cNvSpPr/>
          <p:nvPr/>
        </p:nvSpPr>
        <p:spPr>
          <a:xfrm>
            <a:off x="320040" y="1188720"/>
            <a:ext cx="4069080" cy="3703320"/>
          </a:xfrm>
          <a:prstGeom prst="rect">
            <a:avLst/>
          </a:prstGeom>
          <a:solidFill>
            <a:srgbClr val="F5F0E8"/>
          </a:solidFill>
          <a:ln w="9525">
            <a:solidFill>
              <a:srgbClr val="B8976A"/>
            </a:solidFill>
            <a:prstDash val="solid"/>
          </a:ln>
        </p:spPr>
      </p:sp>
      <p:sp>
        <p:nvSpPr>
          <p:cNvPr id="9" name="Shape 7"/>
          <p:cNvSpPr/>
          <p:nvPr/>
        </p:nvSpPr>
        <p:spPr>
          <a:xfrm>
            <a:off x="320040" y="1188720"/>
            <a:ext cx="54864" cy="3703320"/>
          </a:xfrm>
          <a:prstGeom prst="rect">
            <a:avLst/>
          </a:prstGeom>
          <a:solidFill>
            <a:srgbClr val="B8976A"/>
          </a:solidFill>
          <a:ln w="12700">
            <a:solidFill>
              <a:srgbClr val="B8976A"/>
            </a:solidFill>
            <a:prstDash val="solid"/>
          </a:ln>
        </p:spPr>
      </p:sp>
      <p:sp>
        <p:nvSpPr>
          <p:cNvPr id="10" name="Text 8"/>
          <p:cNvSpPr/>
          <p:nvPr/>
        </p:nvSpPr>
        <p:spPr>
          <a:xfrm>
            <a:off x="484632" y="1280160"/>
            <a:ext cx="3794760" cy="301752"/>
          </a:xfrm>
          <a:prstGeom prst="rect">
            <a:avLst/>
          </a:prstGeom>
          <a:noFill/>
          <a:ln/>
        </p:spPr>
        <p:txBody>
          <a:bodyPr wrap="square" lIns="0" tIns="0" rIns="0" bIns="0" rtlCol="0" anchor="ctr"/>
          <a:lstStyle/>
          <a:p>
            <a:pPr indent="0" marL="0">
              <a:buNone/>
            </a:pPr>
            <a:r>
              <a:rPr lang="en-US" sz="1050" b="1" dirty="0">
                <a:solidFill>
                  <a:srgbClr val="1A3A3A"/>
                </a:solidFill>
                <a:latin typeface="Meiryo" pitchFamily="34" charset="0"/>
                <a:ea typeface="Meiryo" pitchFamily="34" charset="-122"/>
                <a:cs typeface="Meiryo" pitchFamily="34" charset="-120"/>
              </a:rPr>
              <a:t>毎日の習慣（習慣ツール）</a:t>
            </a:r>
            <a:endParaRPr lang="en-US" sz="1050" dirty="0"/>
          </a:p>
        </p:txBody>
      </p:sp>
      <p:sp>
        <p:nvSpPr>
          <p:cNvPr id="11" name="Shape 9"/>
          <p:cNvSpPr/>
          <p:nvPr/>
        </p:nvSpPr>
        <p:spPr>
          <a:xfrm>
            <a:off x="448056" y="1609344"/>
            <a:ext cx="3813048" cy="10973"/>
          </a:xfrm>
          <a:prstGeom prst="rect">
            <a:avLst/>
          </a:prstGeom>
          <a:solidFill>
            <a:srgbClr val="B8976A"/>
          </a:solidFill>
          <a:ln w="12700">
            <a:solidFill>
              <a:srgbClr val="B8976A"/>
            </a:solidFill>
            <a:prstDash val="solid"/>
          </a:ln>
        </p:spPr>
      </p:sp>
      <p:sp>
        <p:nvSpPr>
          <p:cNvPr id="12" name="Text 10"/>
          <p:cNvSpPr/>
          <p:nvPr/>
        </p:nvSpPr>
        <p:spPr>
          <a:xfrm>
            <a:off x="48463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Ha呼吸：鼻からゆっくり吸い、口から「はあ〜」と掠れる音を出しながら4〜6秒かけて吐く</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1日10〜20分を習慣に（就寝前・朝の静かな時間が最適）</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呼吸に続けて瞑想を行う（または単独で）</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緊張ピーク時：冷水洗顔（顔全体に10〜15秒）※心疾患・高血圧の方は禁止</a:t>
            </a:r>
            <a:endParaRPr lang="en-US" sz="1050" dirty="0"/>
          </a:p>
        </p:txBody>
      </p:sp>
      <p:sp>
        <p:nvSpPr>
          <p:cNvPr id="13" name="Shape 11"/>
          <p:cNvSpPr/>
          <p:nvPr/>
        </p:nvSpPr>
        <p:spPr>
          <a:xfrm>
            <a:off x="4754880" y="1188720"/>
            <a:ext cx="4069080" cy="3703320"/>
          </a:xfrm>
          <a:prstGeom prst="rect">
            <a:avLst/>
          </a:prstGeom>
          <a:solidFill>
            <a:srgbClr val="1A3A3A"/>
          </a:solidFill>
          <a:ln w="12700">
            <a:solidFill>
              <a:srgbClr val="1A3A3A"/>
            </a:solidFill>
            <a:prstDash val="solid"/>
          </a:ln>
        </p:spPr>
      </p:sp>
      <p:sp>
        <p:nvSpPr>
          <p:cNvPr id="14" name="Shape 12"/>
          <p:cNvSpPr/>
          <p:nvPr/>
        </p:nvSpPr>
        <p:spPr>
          <a:xfrm>
            <a:off x="4754880" y="1188720"/>
            <a:ext cx="4069080" cy="50292"/>
          </a:xfrm>
          <a:prstGeom prst="rect">
            <a:avLst/>
          </a:prstGeom>
          <a:solidFill>
            <a:srgbClr val="B8976A"/>
          </a:solidFill>
          <a:ln w="12700">
            <a:solidFill>
              <a:srgbClr val="B8976A"/>
            </a:solidFill>
            <a:prstDash val="solid"/>
          </a:ln>
        </p:spPr>
      </p:sp>
      <p:sp>
        <p:nvSpPr>
          <p:cNvPr id="15" name="Text 13"/>
          <p:cNvSpPr/>
          <p:nvPr/>
        </p:nvSpPr>
        <p:spPr>
          <a:xfrm>
            <a:off x="4919472" y="1280160"/>
            <a:ext cx="3794760" cy="301752"/>
          </a:xfrm>
          <a:prstGeom prst="rect">
            <a:avLst/>
          </a:prstGeom>
          <a:noFill/>
          <a:ln/>
        </p:spPr>
        <p:txBody>
          <a:bodyPr wrap="square" lIns="0" tIns="0" rIns="0" bIns="0" rtlCol="0" anchor="ctr"/>
          <a:lstStyle/>
          <a:p>
            <a:pPr indent="0" marL="0">
              <a:buNone/>
            </a:pPr>
            <a:r>
              <a:rPr lang="en-US" sz="1050" b="1" dirty="0">
                <a:solidFill>
                  <a:srgbClr val="B8976A"/>
                </a:solidFill>
                <a:latin typeface="Meiryo" pitchFamily="34" charset="0"/>
                <a:ea typeface="Meiryo" pitchFamily="34" charset="-122"/>
                <a:cs typeface="Meiryo" pitchFamily="34" charset="-120"/>
              </a:rPr>
              <a:t>なぜ効くのか</a:t>
            </a:r>
            <a:endParaRPr lang="en-US" sz="1050" dirty="0"/>
          </a:p>
        </p:txBody>
      </p:sp>
      <p:sp>
        <p:nvSpPr>
          <p:cNvPr id="16" name="Shape 14"/>
          <p:cNvSpPr/>
          <p:nvPr/>
        </p:nvSpPr>
        <p:spPr>
          <a:xfrm>
            <a:off x="4882896" y="1609344"/>
            <a:ext cx="3813048" cy="10973"/>
          </a:xfrm>
          <a:prstGeom prst="rect">
            <a:avLst/>
          </a:prstGeom>
          <a:solidFill>
            <a:srgbClr val="B8976A"/>
          </a:solidFill>
          <a:ln w="12700">
            <a:solidFill>
              <a:srgbClr val="B8976A"/>
            </a:solidFill>
            <a:prstDash val="solid"/>
          </a:ln>
        </p:spPr>
      </p:sp>
      <p:sp>
        <p:nvSpPr>
          <p:cNvPr id="17" name="Text 15"/>
          <p:cNvSpPr/>
          <p:nvPr/>
        </p:nvSpPr>
        <p:spPr>
          <a:xfrm>
            <a:off x="491947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「はあ〜」と発声しながら長く吐くと、声帯まわりの迷走神経が刺激される（ハミング・歌と同方向の働き）</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長い呼気（4〜6秒）は心拍を下げ、副交感神経が優位になりやすくなる</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冷水を顔にあてると「潜水反射」で心拍が下がる。短時間で自律神経に働きかける即時ツール</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Huna：「Ha（ハ）」＝生命力・息吹。古代ハワイの実践と「迷走神経刺激」の現代科学が響き合う</a:t>
            </a:r>
            <a:endParaRPr lang="en-US" sz="1050" dirty="0"/>
          </a:p>
        </p:txBody>
      </p:sp>
      <p:sp>
        <p:nvSpPr>
          <p:cNvPr id="18" name="Text 16"/>
          <p:cNvSpPr/>
          <p:nvPr/>
        </p:nvSpPr>
        <p:spPr>
          <a:xfrm>
            <a:off x="6400800" y="4828032"/>
            <a:ext cx="2560320" cy="228600"/>
          </a:xfrm>
          <a:prstGeom prst="rect">
            <a:avLst/>
          </a:prstGeom>
          <a:noFill/>
          <a:ln/>
        </p:spPr>
        <p:txBody>
          <a:bodyPr wrap="square" lIns="0" tIns="0" rIns="0" bIns="0" rtlCol="0" anchor="ctr"/>
          <a:lstStyle/>
          <a:p>
            <a:pPr algn="r" indent="0" marL="0">
              <a:buNone/>
            </a:pPr>
            <a:r>
              <a:rPr lang="en-US" sz="800" dirty="0">
                <a:solidFill>
                  <a:srgbClr val="B8976A"/>
                </a:solidFill>
                <a:latin typeface="Meiryo" pitchFamily="34" charset="0"/>
                <a:ea typeface="Meiryo" pitchFamily="34" charset="-122"/>
                <a:cs typeface="Meiryo" pitchFamily="34" charset="-120"/>
              </a:rPr>
              <a:t>Na'au Noa  |  PILLAR 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3A"/>
          </a:solidFill>
          <a:ln w="12700">
            <a:solidFill>
              <a:srgbClr val="1A3A3A"/>
            </a:solidFill>
            <a:prstDash val="solid"/>
          </a:ln>
        </p:spPr>
      </p:sp>
      <p:sp>
        <p:nvSpPr>
          <p:cNvPr id="3" name="Text 1"/>
          <p:cNvSpPr/>
          <p:nvPr/>
        </p:nvSpPr>
        <p:spPr>
          <a:xfrm>
            <a:off x="320040" y="0"/>
            <a:ext cx="1005840" cy="658368"/>
          </a:xfrm>
          <a:prstGeom prst="rect">
            <a:avLst/>
          </a:prstGeom>
          <a:noFill/>
          <a:ln/>
        </p:spPr>
        <p:txBody>
          <a:bodyPr wrap="square" lIns="0" tIns="0" rIns="0" bIns="0" rtlCol="0" anchor="ctr"/>
          <a:lstStyle/>
          <a:p>
            <a:pPr indent="0" marL="0">
              <a:buNone/>
            </a:pPr>
            <a:r>
              <a:rPr lang="en-US" sz="900" b="1" spc="300" kern="0" dirty="0">
                <a:solidFill>
                  <a:srgbClr val="B8976A"/>
                </a:solidFill>
                <a:latin typeface="Meiryo" pitchFamily="34" charset="0"/>
                <a:ea typeface="Meiryo" pitchFamily="34" charset="-122"/>
                <a:cs typeface="Meiryo" pitchFamily="34" charset="-120"/>
              </a:rPr>
              <a:t>PILLAR 4</a:t>
            </a:r>
            <a:endParaRPr lang="en-US" sz="900" dirty="0"/>
          </a:p>
        </p:txBody>
      </p:sp>
      <p:sp>
        <p:nvSpPr>
          <p:cNvPr id="4" name="Shape 2"/>
          <p:cNvSpPr/>
          <p:nvPr/>
        </p:nvSpPr>
        <p:spPr>
          <a:xfrm>
            <a:off x="1298448" y="155448"/>
            <a:ext cx="22860" cy="347472"/>
          </a:xfrm>
          <a:prstGeom prst="rect">
            <a:avLst/>
          </a:prstGeom>
          <a:solidFill>
            <a:srgbClr val="B8976A"/>
          </a:solidFill>
          <a:ln w="12700">
            <a:solidFill>
              <a:srgbClr val="B8976A"/>
            </a:solidFill>
            <a:prstDash val="solid"/>
          </a:ln>
        </p:spPr>
      </p:sp>
      <p:sp>
        <p:nvSpPr>
          <p:cNvPr id="5" name="Text 3"/>
          <p:cNvSpPr/>
          <p:nvPr/>
        </p:nvSpPr>
        <p:spPr>
          <a:xfrm>
            <a:off x="1417320" y="0"/>
            <a:ext cx="7132320" cy="658368"/>
          </a:xfrm>
          <a:prstGeom prst="rect">
            <a:avLst/>
          </a:prstGeom>
          <a:noFill/>
          <a:ln/>
        </p:spPr>
        <p:txBody>
          <a:bodyPr wrap="square" lIns="0" tIns="0" rIns="0" bIns="0" rtlCol="0" anchor="ctr"/>
          <a:lstStyle/>
          <a:p>
            <a:pPr indent="0" marL="0">
              <a:buNone/>
            </a:pPr>
            <a:r>
              <a:rPr lang="en-US" sz="1800" b="1" dirty="0">
                <a:solidFill>
                  <a:srgbClr val="FFFFFF"/>
                </a:solidFill>
                <a:latin typeface="MS Mincho" pitchFamily="34" charset="0"/>
                <a:ea typeface="MS Mincho" pitchFamily="34" charset="-122"/>
                <a:cs typeface="MS Mincho" pitchFamily="34" charset="-120"/>
              </a:rPr>
              <a:t>扁桃体の誤学習にアプローチする</a:t>
            </a:r>
            <a:endParaRPr lang="en-US" sz="1800" dirty="0"/>
          </a:p>
        </p:txBody>
      </p:sp>
      <p:sp>
        <p:nvSpPr>
          <p:cNvPr id="6" name="Shape 4"/>
          <p:cNvSpPr/>
          <p:nvPr/>
        </p:nvSpPr>
        <p:spPr>
          <a:xfrm>
            <a:off x="0" y="658368"/>
            <a:ext cx="9144000" cy="36576"/>
          </a:xfrm>
          <a:prstGeom prst="rect">
            <a:avLst/>
          </a:prstGeom>
          <a:solidFill>
            <a:srgbClr val="B8976A"/>
          </a:solidFill>
          <a:ln w="12700">
            <a:solidFill>
              <a:srgbClr val="B8976A"/>
            </a:solidFill>
            <a:prstDash val="solid"/>
          </a:ln>
        </p:spPr>
      </p:sp>
      <p:sp>
        <p:nvSpPr>
          <p:cNvPr id="7" name="Text 5"/>
          <p:cNvSpPr/>
          <p:nvPr/>
        </p:nvSpPr>
        <p:spPr>
          <a:xfrm>
            <a:off x="320040" y="749808"/>
            <a:ext cx="8503920" cy="320040"/>
          </a:xfrm>
          <a:prstGeom prst="rect">
            <a:avLst/>
          </a:prstGeom>
          <a:noFill/>
          <a:ln/>
        </p:spPr>
        <p:txBody>
          <a:bodyPr wrap="square" lIns="0" tIns="0" rIns="0" bIns="0" rtlCol="0" anchor="ctr"/>
          <a:lstStyle/>
          <a:p>
            <a:pPr indent="0" marL="0">
              <a:buNone/>
            </a:pPr>
            <a:r>
              <a:rPr lang="en-US" sz="1050" i="1" dirty="0">
                <a:solidFill>
                  <a:srgbClr val="5A5A5A"/>
                </a:solidFill>
                <a:latin typeface="Meiryo" pitchFamily="34" charset="0"/>
                <a:ea typeface="Meiryo" pitchFamily="34" charset="-122"/>
                <a:cs typeface="Meiryo" pitchFamily="34" charset="-120"/>
              </a:rPr>
              <a:t>「この場面＝危険」という自動反応を、NLP・Hunaで書き換える</a:t>
            </a:r>
            <a:endParaRPr lang="en-US" sz="1050" dirty="0"/>
          </a:p>
        </p:txBody>
      </p:sp>
      <p:sp>
        <p:nvSpPr>
          <p:cNvPr id="8" name="Shape 6"/>
          <p:cNvSpPr/>
          <p:nvPr/>
        </p:nvSpPr>
        <p:spPr>
          <a:xfrm>
            <a:off x="320040" y="1188720"/>
            <a:ext cx="4069080" cy="3703320"/>
          </a:xfrm>
          <a:prstGeom prst="rect">
            <a:avLst/>
          </a:prstGeom>
          <a:solidFill>
            <a:srgbClr val="F5F0E8"/>
          </a:solidFill>
          <a:ln w="9525">
            <a:solidFill>
              <a:srgbClr val="B8976A"/>
            </a:solidFill>
            <a:prstDash val="solid"/>
          </a:ln>
        </p:spPr>
      </p:sp>
      <p:sp>
        <p:nvSpPr>
          <p:cNvPr id="9" name="Shape 7"/>
          <p:cNvSpPr/>
          <p:nvPr/>
        </p:nvSpPr>
        <p:spPr>
          <a:xfrm>
            <a:off x="320040" y="1188720"/>
            <a:ext cx="54864" cy="3703320"/>
          </a:xfrm>
          <a:prstGeom prst="rect">
            <a:avLst/>
          </a:prstGeom>
          <a:solidFill>
            <a:srgbClr val="B8976A"/>
          </a:solidFill>
          <a:ln w="12700">
            <a:solidFill>
              <a:srgbClr val="B8976A"/>
            </a:solidFill>
            <a:prstDash val="solid"/>
          </a:ln>
        </p:spPr>
      </p:sp>
      <p:sp>
        <p:nvSpPr>
          <p:cNvPr id="10" name="Text 8"/>
          <p:cNvSpPr/>
          <p:nvPr/>
        </p:nvSpPr>
        <p:spPr>
          <a:xfrm>
            <a:off x="484632" y="1280160"/>
            <a:ext cx="3794760" cy="301752"/>
          </a:xfrm>
          <a:prstGeom prst="rect">
            <a:avLst/>
          </a:prstGeom>
          <a:noFill/>
          <a:ln/>
        </p:spPr>
        <p:txBody>
          <a:bodyPr wrap="square" lIns="0" tIns="0" rIns="0" bIns="0" rtlCol="0" anchor="ctr"/>
          <a:lstStyle/>
          <a:p>
            <a:pPr indent="0" marL="0">
              <a:buNone/>
            </a:pPr>
            <a:r>
              <a:rPr lang="en-US" sz="1050" b="1" dirty="0">
                <a:solidFill>
                  <a:srgbClr val="1A3A3A"/>
                </a:solidFill>
                <a:latin typeface="Meiryo" pitchFamily="34" charset="0"/>
                <a:ea typeface="Meiryo" pitchFamily="34" charset="-122"/>
                <a:cs typeface="Meiryo" pitchFamily="34" charset="-120"/>
              </a:rPr>
              <a:t>セッションでの実践</a:t>
            </a:r>
            <a:endParaRPr lang="en-US" sz="1050" dirty="0"/>
          </a:p>
        </p:txBody>
      </p:sp>
      <p:sp>
        <p:nvSpPr>
          <p:cNvPr id="11" name="Shape 9"/>
          <p:cNvSpPr/>
          <p:nvPr/>
        </p:nvSpPr>
        <p:spPr>
          <a:xfrm>
            <a:off x="448056" y="1609344"/>
            <a:ext cx="3813048" cy="10973"/>
          </a:xfrm>
          <a:prstGeom prst="rect">
            <a:avLst/>
          </a:prstGeom>
          <a:solidFill>
            <a:srgbClr val="B8976A"/>
          </a:solidFill>
          <a:ln w="12700">
            <a:solidFill>
              <a:srgbClr val="B8976A"/>
            </a:solidFill>
            <a:prstDash val="solid"/>
          </a:ln>
        </p:spPr>
      </p:sp>
      <p:sp>
        <p:nvSpPr>
          <p:cNvPr id="12" name="Text 10"/>
          <p:cNvSpPr/>
          <p:nvPr/>
        </p:nvSpPr>
        <p:spPr>
          <a:xfrm>
            <a:off x="48463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過去の失敗・恥・プレッシャーの記憶に、安全な範囲でやさしく触れていく</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NLPやHunaの手法で、記憶にともなう感情・身体感覚を扱い直す</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「この場面＝危険」から「この場面＝大丈夫」へ、扁桃体の学び直しを促す</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コーチとの「安全な関係性」そのものが神経系に働きかける（ポリヴェーガル理論）</a:t>
            </a:r>
            <a:endParaRPr lang="en-US" sz="1050" dirty="0"/>
          </a:p>
        </p:txBody>
      </p:sp>
      <p:sp>
        <p:nvSpPr>
          <p:cNvPr id="13" name="Shape 11"/>
          <p:cNvSpPr/>
          <p:nvPr/>
        </p:nvSpPr>
        <p:spPr>
          <a:xfrm>
            <a:off x="4754880" y="1188720"/>
            <a:ext cx="4069080" cy="3703320"/>
          </a:xfrm>
          <a:prstGeom prst="rect">
            <a:avLst/>
          </a:prstGeom>
          <a:solidFill>
            <a:srgbClr val="1A3A3A"/>
          </a:solidFill>
          <a:ln w="12700">
            <a:solidFill>
              <a:srgbClr val="1A3A3A"/>
            </a:solidFill>
            <a:prstDash val="solid"/>
          </a:ln>
        </p:spPr>
      </p:sp>
      <p:sp>
        <p:nvSpPr>
          <p:cNvPr id="14" name="Shape 12"/>
          <p:cNvSpPr/>
          <p:nvPr/>
        </p:nvSpPr>
        <p:spPr>
          <a:xfrm>
            <a:off x="4754880" y="1188720"/>
            <a:ext cx="4069080" cy="50292"/>
          </a:xfrm>
          <a:prstGeom prst="rect">
            <a:avLst/>
          </a:prstGeom>
          <a:solidFill>
            <a:srgbClr val="B8976A"/>
          </a:solidFill>
          <a:ln w="12700">
            <a:solidFill>
              <a:srgbClr val="B8976A"/>
            </a:solidFill>
            <a:prstDash val="solid"/>
          </a:ln>
        </p:spPr>
      </p:sp>
      <p:sp>
        <p:nvSpPr>
          <p:cNvPr id="15" name="Text 13"/>
          <p:cNvSpPr/>
          <p:nvPr/>
        </p:nvSpPr>
        <p:spPr>
          <a:xfrm>
            <a:off x="4919472" y="1280160"/>
            <a:ext cx="3794760" cy="301752"/>
          </a:xfrm>
          <a:prstGeom prst="rect">
            <a:avLst/>
          </a:prstGeom>
          <a:noFill/>
          <a:ln/>
        </p:spPr>
        <p:txBody>
          <a:bodyPr wrap="square" lIns="0" tIns="0" rIns="0" bIns="0" rtlCol="0" anchor="ctr"/>
          <a:lstStyle/>
          <a:p>
            <a:pPr indent="0" marL="0">
              <a:buNone/>
            </a:pPr>
            <a:r>
              <a:rPr lang="en-US" sz="1050" b="1" dirty="0">
                <a:solidFill>
                  <a:srgbClr val="B8976A"/>
                </a:solidFill>
                <a:latin typeface="Meiryo" pitchFamily="34" charset="0"/>
                <a:ea typeface="Meiryo" pitchFamily="34" charset="-122"/>
                <a:cs typeface="Meiryo" pitchFamily="34" charset="-120"/>
              </a:rPr>
              <a:t>なぜ効くのか</a:t>
            </a:r>
            <a:endParaRPr lang="en-US" sz="1050" dirty="0"/>
          </a:p>
        </p:txBody>
      </p:sp>
      <p:sp>
        <p:nvSpPr>
          <p:cNvPr id="16" name="Shape 14"/>
          <p:cNvSpPr/>
          <p:nvPr/>
        </p:nvSpPr>
        <p:spPr>
          <a:xfrm>
            <a:off x="4882896" y="1609344"/>
            <a:ext cx="3813048" cy="10973"/>
          </a:xfrm>
          <a:prstGeom prst="rect">
            <a:avLst/>
          </a:prstGeom>
          <a:solidFill>
            <a:srgbClr val="B8976A"/>
          </a:solidFill>
          <a:ln w="12700">
            <a:solidFill>
              <a:srgbClr val="B8976A"/>
            </a:solidFill>
            <a:prstDash val="solid"/>
          </a:ln>
        </p:spPr>
      </p:sp>
      <p:sp>
        <p:nvSpPr>
          <p:cNvPr id="17" name="Text 15"/>
          <p:cNvSpPr/>
          <p:nvPr/>
        </p:nvSpPr>
        <p:spPr>
          <a:xfrm>
            <a:off x="491947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扁桃体は意識的な思考より速く恐怖パターンに反応し、交感神経を発動させる（LeDoux等）</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記憶の再固定化：思い出した瞬間に新しい体験が結びつくと書き換わりうる（Nader等）</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EMDRやソマティック・エクスペリエンシングなど「身体感覚と感情記憶を同時に扱う」方向性と共通</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安全と感じられる場が、感情記憶を扱い直す土台になる。「怒られない場」を体験することが学び直しの第一歩</a:t>
            </a:r>
            <a:endParaRPr lang="en-US" sz="1050" dirty="0"/>
          </a:p>
        </p:txBody>
      </p:sp>
      <p:sp>
        <p:nvSpPr>
          <p:cNvPr id="18" name="Text 16"/>
          <p:cNvSpPr/>
          <p:nvPr/>
        </p:nvSpPr>
        <p:spPr>
          <a:xfrm>
            <a:off x="6400800" y="4828032"/>
            <a:ext cx="2560320" cy="228600"/>
          </a:xfrm>
          <a:prstGeom prst="rect">
            <a:avLst/>
          </a:prstGeom>
          <a:noFill/>
          <a:ln/>
        </p:spPr>
        <p:txBody>
          <a:bodyPr wrap="square" lIns="0" tIns="0" rIns="0" bIns="0" rtlCol="0" anchor="ctr"/>
          <a:lstStyle/>
          <a:p>
            <a:pPr algn="r" indent="0" marL="0">
              <a:buNone/>
            </a:pPr>
            <a:r>
              <a:rPr lang="en-US" sz="800" dirty="0">
                <a:solidFill>
                  <a:srgbClr val="B8976A"/>
                </a:solidFill>
                <a:latin typeface="Meiryo" pitchFamily="34" charset="0"/>
                <a:ea typeface="Meiryo" pitchFamily="34" charset="-122"/>
                <a:cs typeface="Meiryo" pitchFamily="34" charset="-120"/>
              </a:rPr>
              <a:t>Na'au Noa  |  PILLAR 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3A"/>
          </a:solidFill>
          <a:ln w="12700">
            <a:solidFill>
              <a:srgbClr val="1A3A3A"/>
            </a:solidFill>
            <a:prstDash val="solid"/>
          </a:ln>
        </p:spPr>
      </p:sp>
      <p:sp>
        <p:nvSpPr>
          <p:cNvPr id="3" name="Text 1"/>
          <p:cNvSpPr/>
          <p:nvPr/>
        </p:nvSpPr>
        <p:spPr>
          <a:xfrm>
            <a:off x="320040" y="0"/>
            <a:ext cx="1005840" cy="658368"/>
          </a:xfrm>
          <a:prstGeom prst="rect">
            <a:avLst/>
          </a:prstGeom>
          <a:noFill/>
          <a:ln/>
        </p:spPr>
        <p:txBody>
          <a:bodyPr wrap="square" lIns="0" tIns="0" rIns="0" bIns="0" rtlCol="0" anchor="ctr"/>
          <a:lstStyle/>
          <a:p>
            <a:pPr indent="0" marL="0">
              <a:buNone/>
            </a:pPr>
            <a:r>
              <a:rPr lang="en-US" sz="900" b="1" spc="300" kern="0" dirty="0">
                <a:solidFill>
                  <a:srgbClr val="B8976A"/>
                </a:solidFill>
                <a:latin typeface="Meiryo" pitchFamily="34" charset="0"/>
                <a:ea typeface="Meiryo" pitchFamily="34" charset="-122"/>
                <a:cs typeface="Meiryo" pitchFamily="34" charset="-120"/>
              </a:rPr>
              <a:t>PILLAR 5</a:t>
            </a:r>
            <a:endParaRPr lang="en-US" sz="900" dirty="0"/>
          </a:p>
        </p:txBody>
      </p:sp>
      <p:sp>
        <p:nvSpPr>
          <p:cNvPr id="4" name="Shape 2"/>
          <p:cNvSpPr/>
          <p:nvPr/>
        </p:nvSpPr>
        <p:spPr>
          <a:xfrm>
            <a:off x="1298448" y="155448"/>
            <a:ext cx="22860" cy="347472"/>
          </a:xfrm>
          <a:prstGeom prst="rect">
            <a:avLst/>
          </a:prstGeom>
          <a:solidFill>
            <a:srgbClr val="B8976A"/>
          </a:solidFill>
          <a:ln w="12700">
            <a:solidFill>
              <a:srgbClr val="B8976A"/>
            </a:solidFill>
            <a:prstDash val="solid"/>
          </a:ln>
        </p:spPr>
      </p:sp>
      <p:sp>
        <p:nvSpPr>
          <p:cNvPr id="5" name="Text 3"/>
          <p:cNvSpPr/>
          <p:nvPr/>
        </p:nvSpPr>
        <p:spPr>
          <a:xfrm>
            <a:off x="1417320" y="0"/>
            <a:ext cx="7132320" cy="658368"/>
          </a:xfrm>
          <a:prstGeom prst="rect">
            <a:avLst/>
          </a:prstGeom>
          <a:noFill/>
          <a:ln/>
        </p:spPr>
        <p:txBody>
          <a:bodyPr wrap="square" lIns="0" tIns="0" rIns="0" bIns="0" rtlCol="0" anchor="ctr"/>
          <a:lstStyle/>
          <a:p>
            <a:pPr indent="0" marL="0">
              <a:buNone/>
            </a:pPr>
            <a:r>
              <a:rPr lang="en-US" sz="1800" b="1" dirty="0">
                <a:solidFill>
                  <a:srgbClr val="FFFFFF"/>
                </a:solidFill>
                <a:latin typeface="MS Mincho" pitchFamily="34" charset="0"/>
                <a:ea typeface="MS Mincho" pitchFamily="34" charset="-122"/>
                <a:cs typeface="MS Mincho" pitchFamily="34" charset="-120"/>
              </a:rPr>
              <a:t>体内リズムを整える（朝散歩）</a:t>
            </a:r>
            <a:endParaRPr lang="en-US" sz="1800" dirty="0"/>
          </a:p>
        </p:txBody>
      </p:sp>
      <p:sp>
        <p:nvSpPr>
          <p:cNvPr id="6" name="Shape 4"/>
          <p:cNvSpPr/>
          <p:nvPr/>
        </p:nvSpPr>
        <p:spPr>
          <a:xfrm>
            <a:off x="0" y="658368"/>
            <a:ext cx="9144000" cy="36576"/>
          </a:xfrm>
          <a:prstGeom prst="rect">
            <a:avLst/>
          </a:prstGeom>
          <a:solidFill>
            <a:srgbClr val="B8976A"/>
          </a:solidFill>
          <a:ln w="12700">
            <a:solidFill>
              <a:srgbClr val="B8976A"/>
            </a:solidFill>
            <a:prstDash val="solid"/>
          </a:ln>
        </p:spPr>
      </p:sp>
      <p:sp>
        <p:nvSpPr>
          <p:cNvPr id="7" name="Text 5"/>
          <p:cNvSpPr/>
          <p:nvPr/>
        </p:nvSpPr>
        <p:spPr>
          <a:xfrm>
            <a:off x="320040" y="749808"/>
            <a:ext cx="8503920" cy="320040"/>
          </a:xfrm>
          <a:prstGeom prst="rect">
            <a:avLst/>
          </a:prstGeom>
          <a:noFill/>
          <a:ln/>
        </p:spPr>
        <p:txBody>
          <a:bodyPr wrap="square" lIns="0" tIns="0" rIns="0" bIns="0" rtlCol="0" anchor="ctr"/>
          <a:lstStyle/>
          <a:p>
            <a:pPr indent="0" marL="0">
              <a:buNone/>
            </a:pPr>
            <a:r>
              <a:rPr lang="en-US" sz="1050" i="1" dirty="0">
                <a:solidFill>
                  <a:srgbClr val="5A5A5A"/>
                </a:solidFill>
                <a:latin typeface="Meiryo" pitchFamily="34" charset="0"/>
                <a:ea typeface="Meiryo" pitchFamily="34" charset="-122"/>
                <a:cs typeface="Meiryo" pitchFamily="34" charset="-120"/>
              </a:rPr>
              <a:t>朝の光・歩き・大地で、1日のサーカディアンリズムを安定させる</a:t>
            </a:r>
            <a:endParaRPr lang="en-US" sz="1050" dirty="0"/>
          </a:p>
        </p:txBody>
      </p:sp>
      <p:sp>
        <p:nvSpPr>
          <p:cNvPr id="8" name="Shape 6"/>
          <p:cNvSpPr/>
          <p:nvPr/>
        </p:nvSpPr>
        <p:spPr>
          <a:xfrm>
            <a:off x="320040" y="1188720"/>
            <a:ext cx="4069080" cy="3703320"/>
          </a:xfrm>
          <a:prstGeom prst="rect">
            <a:avLst/>
          </a:prstGeom>
          <a:solidFill>
            <a:srgbClr val="F5F0E8"/>
          </a:solidFill>
          <a:ln w="9525">
            <a:solidFill>
              <a:srgbClr val="B8976A"/>
            </a:solidFill>
            <a:prstDash val="solid"/>
          </a:ln>
        </p:spPr>
      </p:sp>
      <p:sp>
        <p:nvSpPr>
          <p:cNvPr id="9" name="Shape 7"/>
          <p:cNvSpPr/>
          <p:nvPr/>
        </p:nvSpPr>
        <p:spPr>
          <a:xfrm>
            <a:off x="320040" y="1188720"/>
            <a:ext cx="54864" cy="3703320"/>
          </a:xfrm>
          <a:prstGeom prst="rect">
            <a:avLst/>
          </a:prstGeom>
          <a:solidFill>
            <a:srgbClr val="B8976A"/>
          </a:solidFill>
          <a:ln w="12700">
            <a:solidFill>
              <a:srgbClr val="B8976A"/>
            </a:solidFill>
            <a:prstDash val="solid"/>
          </a:ln>
        </p:spPr>
      </p:sp>
      <p:sp>
        <p:nvSpPr>
          <p:cNvPr id="10" name="Text 8"/>
          <p:cNvSpPr/>
          <p:nvPr/>
        </p:nvSpPr>
        <p:spPr>
          <a:xfrm>
            <a:off x="484632" y="1280160"/>
            <a:ext cx="3794760" cy="301752"/>
          </a:xfrm>
          <a:prstGeom prst="rect">
            <a:avLst/>
          </a:prstGeom>
          <a:noFill/>
          <a:ln/>
        </p:spPr>
        <p:txBody>
          <a:bodyPr wrap="square" lIns="0" tIns="0" rIns="0" bIns="0" rtlCol="0" anchor="ctr"/>
          <a:lstStyle/>
          <a:p>
            <a:pPr indent="0" marL="0">
              <a:buNone/>
            </a:pPr>
            <a:r>
              <a:rPr lang="en-US" sz="1050" b="1" dirty="0">
                <a:solidFill>
                  <a:srgbClr val="1A3A3A"/>
                </a:solidFill>
                <a:latin typeface="Meiryo" pitchFamily="34" charset="0"/>
                <a:ea typeface="Meiryo" pitchFamily="34" charset="-122"/>
                <a:cs typeface="Meiryo" pitchFamily="34" charset="-120"/>
              </a:rPr>
              <a:t>具体的な実践</a:t>
            </a:r>
            <a:endParaRPr lang="en-US" sz="1050" dirty="0"/>
          </a:p>
        </p:txBody>
      </p:sp>
      <p:sp>
        <p:nvSpPr>
          <p:cNvPr id="11" name="Shape 9"/>
          <p:cNvSpPr/>
          <p:nvPr/>
        </p:nvSpPr>
        <p:spPr>
          <a:xfrm>
            <a:off x="448056" y="1609344"/>
            <a:ext cx="3813048" cy="10973"/>
          </a:xfrm>
          <a:prstGeom prst="rect">
            <a:avLst/>
          </a:prstGeom>
          <a:solidFill>
            <a:srgbClr val="B8976A"/>
          </a:solidFill>
          <a:ln w="12700">
            <a:solidFill>
              <a:srgbClr val="B8976A"/>
            </a:solidFill>
            <a:prstDash val="solid"/>
          </a:ln>
        </p:spPr>
      </p:sp>
      <p:sp>
        <p:nvSpPr>
          <p:cNvPr id="12" name="Text 10"/>
          <p:cNvSpPr/>
          <p:nvPr/>
        </p:nvSpPr>
        <p:spPr>
          <a:xfrm>
            <a:off x="48463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起床後60分以内に20〜30分の散歩（このタイミングを意識する）</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日光の下で歩く（スマートフォンを持たず、感覚を開いて）</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可能であれば素足で砂・芝・地面に触れながら歩く</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茅ヶ崎の砂浜は最高の実践場所</a:t>
            </a:r>
            <a:endParaRPr lang="en-US" sz="1050" dirty="0"/>
          </a:p>
        </p:txBody>
      </p:sp>
      <p:sp>
        <p:nvSpPr>
          <p:cNvPr id="13" name="Shape 11"/>
          <p:cNvSpPr/>
          <p:nvPr/>
        </p:nvSpPr>
        <p:spPr>
          <a:xfrm>
            <a:off x="4754880" y="1188720"/>
            <a:ext cx="4069080" cy="3703320"/>
          </a:xfrm>
          <a:prstGeom prst="rect">
            <a:avLst/>
          </a:prstGeom>
          <a:solidFill>
            <a:srgbClr val="1A3A3A"/>
          </a:solidFill>
          <a:ln w="12700">
            <a:solidFill>
              <a:srgbClr val="1A3A3A"/>
            </a:solidFill>
            <a:prstDash val="solid"/>
          </a:ln>
        </p:spPr>
      </p:sp>
      <p:sp>
        <p:nvSpPr>
          <p:cNvPr id="14" name="Shape 12"/>
          <p:cNvSpPr/>
          <p:nvPr/>
        </p:nvSpPr>
        <p:spPr>
          <a:xfrm>
            <a:off x="4754880" y="1188720"/>
            <a:ext cx="4069080" cy="50292"/>
          </a:xfrm>
          <a:prstGeom prst="rect">
            <a:avLst/>
          </a:prstGeom>
          <a:solidFill>
            <a:srgbClr val="B8976A"/>
          </a:solidFill>
          <a:ln w="12700">
            <a:solidFill>
              <a:srgbClr val="B8976A"/>
            </a:solidFill>
            <a:prstDash val="solid"/>
          </a:ln>
        </p:spPr>
      </p:sp>
      <p:sp>
        <p:nvSpPr>
          <p:cNvPr id="15" name="Text 13"/>
          <p:cNvSpPr/>
          <p:nvPr/>
        </p:nvSpPr>
        <p:spPr>
          <a:xfrm>
            <a:off x="4919472" y="1280160"/>
            <a:ext cx="3794760" cy="301752"/>
          </a:xfrm>
          <a:prstGeom prst="rect">
            <a:avLst/>
          </a:prstGeom>
          <a:noFill/>
          <a:ln/>
        </p:spPr>
        <p:txBody>
          <a:bodyPr wrap="square" lIns="0" tIns="0" rIns="0" bIns="0" rtlCol="0" anchor="ctr"/>
          <a:lstStyle/>
          <a:p>
            <a:pPr indent="0" marL="0">
              <a:buNone/>
            </a:pPr>
            <a:r>
              <a:rPr lang="en-US" sz="1050" b="1" dirty="0">
                <a:solidFill>
                  <a:srgbClr val="B8976A"/>
                </a:solidFill>
                <a:latin typeface="Meiryo" pitchFamily="34" charset="0"/>
                <a:ea typeface="Meiryo" pitchFamily="34" charset="-122"/>
                <a:cs typeface="Meiryo" pitchFamily="34" charset="-120"/>
              </a:rPr>
              <a:t>なぜ効くのか</a:t>
            </a:r>
            <a:endParaRPr lang="en-US" sz="1050" dirty="0"/>
          </a:p>
        </p:txBody>
      </p:sp>
      <p:sp>
        <p:nvSpPr>
          <p:cNvPr id="16" name="Shape 14"/>
          <p:cNvSpPr/>
          <p:nvPr/>
        </p:nvSpPr>
        <p:spPr>
          <a:xfrm>
            <a:off x="4882896" y="1609344"/>
            <a:ext cx="3813048" cy="10973"/>
          </a:xfrm>
          <a:prstGeom prst="rect">
            <a:avLst/>
          </a:prstGeom>
          <a:solidFill>
            <a:srgbClr val="B8976A"/>
          </a:solidFill>
          <a:ln w="12700">
            <a:solidFill>
              <a:srgbClr val="B8976A"/>
            </a:solidFill>
            <a:prstDash val="solid"/>
          </a:ln>
        </p:spPr>
      </p:sp>
      <p:sp>
        <p:nvSpPr>
          <p:cNvPr id="17" name="Text 15"/>
          <p:cNvSpPr/>
          <p:nvPr/>
        </p:nvSpPr>
        <p:spPr>
          <a:xfrm>
            <a:off x="491947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朝の光が網膜を刺激 → 体内時計の中枢（視交叉上核）が整う → 1日の概日リズムが安定</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セロトニンの働きが促され、夜にはメラトニンへ移行して睡眠の質が高まる</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起床後30〜45分のコルチゾールピーク（CAR）と朝の光・運動を重ねると日内リズムが整いやすい</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有酸素運動はBDNF（脳由来神経栄養因子）の分泌に関わり、気分・睡眠の安定と他ピラーの土台に</a:t>
            </a:r>
            <a:endParaRPr lang="en-US" sz="1050" dirty="0"/>
          </a:p>
        </p:txBody>
      </p:sp>
      <p:sp>
        <p:nvSpPr>
          <p:cNvPr id="18" name="Text 16"/>
          <p:cNvSpPr/>
          <p:nvPr/>
        </p:nvSpPr>
        <p:spPr>
          <a:xfrm>
            <a:off x="6400800" y="4828032"/>
            <a:ext cx="2560320" cy="228600"/>
          </a:xfrm>
          <a:prstGeom prst="rect">
            <a:avLst/>
          </a:prstGeom>
          <a:noFill/>
          <a:ln/>
        </p:spPr>
        <p:txBody>
          <a:bodyPr wrap="square" lIns="0" tIns="0" rIns="0" bIns="0" rtlCol="0" anchor="ctr"/>
          <a:lstStyle/>
          <a:p>
            <a:pPr algn="r" indent="0" marL="0">
              <a:buNone/>
            </a:pPr>
            <a:r>
              <a:rPr lang="en-US" sz="800" dirty="0">
                <a:solidFill>
                  <a:srgbClr val="B8976A"/>
                </a:solidFill>
                <a:latin typeface="Meiryo" pitchFamily="34" charset="0"/>
                <a:ea typeface="Meiryo" pitchFamily="34" charset="-122"/>
                <a:cs typeface="Meiryo" pitchFamily="34" charset="-120"/>
              </a:rPr>
              <a:t>Na'au Noa  |  PILLAR 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3A"/>
          </a:solidFill>
          <a:ln w="12700">
            <a:solidFill>
              <a:srgbClr val="1A3A3A"/>
            </a:solidFill>
            <a:prstDash val="solid"/>
          </a:ln>
        </p:spPr>
      </p:sp>
      <p:sp>
        <p:nvSpPr>
          <p:cNvPr id="3" name="Text 1"/>
          <p:cNvSpPr/>
          <p:nvPr/>
        </p:nvSpPr>
        <p:spPr>
          <a:xfrm>
            <a:off x="320040" y="0"/>
            <a:ext cx="1005840" cy="658368"/>
          </a:xfrm>
          <a:prstGeom prst="rect">
            <a:avLst/>
          </a:prstGeom>
          <a:noFill/>
          <a:ln/>
        </p:spPr>
        <p:txBody>
          <a:bodyPr wrap="square" lIns="0" tIns="0" rIns="0" bIns="0" rtlCol="0" anchor="ctr"/>
          <a:lstStyle/>
          <a:p>
            <a:pPr indent="0" marL="0">
              <a:buNone/>
            </a:pPr>
            <a:r>
              <a:rPr lang="en-US" sz="900" b="1" spc="300" kern="0" dirty="0">
                <a:solidFill>
                  <a:srgbClr val="B8976A"/>
                </a:solidFill>
                <a:latin typeface="Meiryo" pitchFamily="34" charset="0"/>
                <a:ea typeface="Meiryo" pitchFamily="34" charset="-122"/>
                <a:cs typeface="Meiryo" pitchFamily="34" charset="-120"/>
              </a:rPr>
              <a:t>PILLAR 6</a:t>
            </a:r>
            <a:endParaRPr lang="en-US" sz="900" dirty="0"/>
          </a:p>
        </p:txBody>
      </p:sp>
      <p:sp>
        <p:nvSpPr>
          <p:cNvPr id="4" name="Shape 2"/>
          <p:cNvSpPr/>
          <p:nvPr/>
        </p:nvSpPr>
        <p:spPr>
          <a:xfrm>
            <a:off x="1298448" y="155448"/>
            <a:ext cx="22860" cy="347472"/>
          </a:xfrm>
          <a:prstGeom prst="rect">
            <a:avLst/>
          </a:prstGeom>
          <a:solidFill>
            <a:srgbClr val="B8976A"/>
          </a:solidFill>
          <a:ln w="12700">
            <a:solidFill>
              <a:srgbClr val="B8976A"/>
            </a:solidFill>
            <a:prstDash val="solid"/>
          </a:ln>
        </p:spPr>
      </p:sp>
      <p:sp>
        <p:nvSpPr>
          <p:cNvPr id="5" name="Text 3"/>
          <p:cNvSpPr/>
          <p:nvPr/>
        </p:nvSpPr>
        <p:spPr>
          <a:xfrm>
            <a:off x="1417320" y="0"/>
            <a:ext cx="7132320" cy="658368"/>
          </a:xfrm>
          <a:prstGeom prst="rect">
            <a:avLst/>
          </a:prstGeom>
          <a:noFill/>
          <a:ln/>
        </p:spPr>
        <p:txBody>
          <a:bodyPr wrap="square" lIns="0" tIns="0" rIns="0" bIns="0" rtlCol="0" anchor="ctr"/>
          <a:lstStyle/>
          <a:p>
            <a:pPr indent="0" marL="0">
              <a:buNone/>
            </a:pPr>
            <a:r>
              <a:rPr lang="en-US" sz="1800" b="1" dirty="0">
                <a:solidFill>
                  <a:srgbClr val="FFFFFF"/>
                </a:solidFill>
                <a:latin typeface="MS Mincho" pitchFamily="34" charset="0"/>
                <a:ea typeface="MS Mincho" pitchFamily="34" charset="-122"/>
                <a:cs typeface="MS Mincho" pitchFamily="34" charset="-120"/>
              </a:rPr>
              <a:t>フォームジャーナリング（セルフコーチング）</a:t>
            </a:r>
            <a:endParaRPr lang="en-US" sz="1800" dirty="0"/>
          </a:p>
        </p:txBody>
      </p:sp>
      <p:sp>
        <p:nvSpPr>
          <p:cNvPr id="6" name="Shape 4"/>
          <p:cNvSpPr/>
          <p:nvPr/>
        </p:nvSpPr>
        <p:spPr>
          <a:xfrm>
            <a:off x="0" y="658368"/>
            <a:ext cx="9144000" cy="36576"/>
          </a:xfrm>
          <a:prstGeom prst="rect">
            <a:avLst/>
          </a:prstGeom>
          <a:solidFill>
            <a:srgbClr val="B8976A"/>
          </a:solidFill>
          <a:ln w="12700">
            <a:solidFill>
              <a:srgbClr val="B8976A"/>
            </a:solidFill>
            <a:prstDash val="solid"/>
          </a:ln>
        </p:spPr>
      </p:sp>
      <p:sp>
        <p:nvSpPr>
          <p:cNvPr id="7" name="Text 5"/>
          <p:cNvSpPr/>
          <p:nvPr/>
        </p:nvSpPr>
        <p:spPr>
          <a:xfrm>
            <a:off x="320040" y="749808"/>
            <a:ext cx="8503920" cy="320040"/>
          </a:xfrm>
          <a:prstGeom prst="rect">
            <a:avLst/>
          </a:prstGeom>
          <a:noFill/>
          <a:ln/>
        </p:spPr>
        <p:txBody>
          <a:bodyPr wrap="square" lIns="0" tIns="0" rIns="0" bIns="0" rtlCol="0" anchor="ctr"/>
          <a:lstStyle/>
          <a:p>
            <a:pPr indent="0" marL="0">
              <a:buNone/>
            </a:pPr>
            <a:r>
              <a:rPr lang="en-US" sz="1050" i="1" dirty="0">
                <a:solidFill>
                  <a:srgbClr val="5A5A5A"/>
                </a:solidFill>
                <a:latin typeface="Meiryo" pitchFamily="34" charset="0"/>
                <a:ea typeface="Meiryo" pitchFamily="34" charset="-122"/>
                <a:cs typeface="Meiryo" pitchFamily="34" charset="-120"/>
              </a:rPr>
              <a:t>毎晩4つの問いで「今日のフォーム」を振り返り、翌日の土台を仕込む</a:t>
            </a:r>
            <a:endParaRPr lang="en-US" sz="1050" dirty="0"/>
          </a:p>
        </p:txBody>
      </p:sp>
      <p:sp>
        <p:nvSpPr>
          <p:cNvPr id="8" name="Shape 6"/>
          <p:cNvSpPr/>
          <p:nvPr/>
        </p:nvSpPr>
        <p:spPr>
          <a:xfrm>
            <a:off x="320040" y="1188720"/>
            <a:ext cx="4069080" cy="3703320"/>
          </a:xfrm>
          <a:prstGeom prst="rect">
            <a:avLst/>
          </a:prstGeom>
          <a:solidFill>
            <a:srgbClr val="F5F0E8"/>
          </a:solidFill>
          <a:ln w="9525">
            <a:solidFill>
              <a:srgbClr val="B8976A"/>
            </a:solidFill>
            <a:prstDash val="solid"/>
          </a:ln>
        </p:spPr>
      </p:sp>
      <p:sp>
        <p:nvSpPr>
          <p:cNvPr id="9" name="Shape 7"/>
          <p:cNvSpPr/>
          <p:nvPr/>
        </p:nvSpPr>
        <p:spPr>
          <a:xfrm>
            <a:off x="320040" y="1188720"/>
            <a:ext cx="54864" cy="3703320"/>
          </a:xfrm>
          <a:prstGeom prst="rect">
            <a:avLst/>
          </a:prstGeom>
          <a:solidFill>
            <a:srgbClr val="B8976A"/>
          </a:solidFill>
          <a:ln w="12700">
            <a:solidFill>
              <a:srgbClr val="B8976A"/>
            </a:solidFill>
            <a:prstDash val="solid"/>
          </a:ln>
        </p:spPr>
      </p:sp>
      <p:sp>
        <p:nvSpPr>
          <p:cNvPr id="10" name="Text 8"/>
          <p:cNvSpPr/>
          <p:nvPr/>
        </p:nvSpPr>
        <p:spPr>
          <a:xfrm>
            <a:off x="484632" y="1280160"/>
            <a:ext cx="3794760" cy="301752"/>
          </a:xfrm>
          <a:prstGeom prst="rect">
            <a:avLst/>
          </a:prstGeom>
          <a:noFill/>
          <a:ln/>
        </p:spPr>
        <p:txBody>
          <a:bodyPr wrap="square" lIns="0" tIns="0" rIns="0" bIns="0" rtlCol="0" anchor="ctr"/>
          <a:lstStyle/>
          <a:p>
            <a:pPr indent="0" marL="0">
              <a:buNone/>
            </a:pPr>
            <a:r>
              <a:rPr lang="en-US" sz="1050" b="1" dirty="0">
                <a:solidFill>
                  <a:srgbClr val="1A3A3A"/>
                </a:solidFill>
                <a:latin typeface="Meiryo" pitchFamily="34" charset="0"/>
                <a:ea typeface="Meiryo" pitchFamily="34" charset="-122"/>
                <a:cs typeface="Meiryo" pitchFamily="34" charset="-120"/>
              </a:rPr>
              <a:t>4つの問い</a:t>
            </a:r>
            <a:endParaRPr lang="en-US" sz="1050" dirty="0"/>
          </a:p>
        </p:txBody>
      </p:sp>
      <p:sp>
        <p:nvSpPr>
          <p:cNvPr id="11" name="Shape 9"/>
          <p:cNvSpPr/>
          <p:nvPr/>
        </p:nvSpPr>
        <p:spPr>
          <a:xfrm>
            <a:off x="448056" y="1609344"/>
            <a:ext cx="3813048" cy="10973"/>
          </a:xfrm>
          <a:prstGeom prst="rect">
            <a:avLst/>
          </a:prstGeom>
          <a:solidFill>
            <a:srgbClr val="B8976A"/>
          </a:solidFill>
          <a:ln w="12700">
            <a:solidFill>
              <a:srgbClr val="B8976A"/>
            </a:solidFill>
            <a:prstDash val="solid"/>
          </a:ln>
        </p:spPr>
      </p:sp>
      <p:sp>
        <p:nvSpPr>
          <p:cNvPr id="12" name="Text 10"/>
          <p:cNvSpPr/>
          <p:nvPr/>
        </p:nvSpPr>
        <p:spPr>
          <a:xfrm>
            <a:off x="48463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① 今日1日、どんなフォーム（土台）を整えることができたか？</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② 結果として、それはどんな未来を引き寄せたのか？（過去形で言い切り、感情・感覚をフルで味わう）</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③ 実際に今日引き寄せた結果は？（欲しかった結果／欲しくなかった結果）</a:t>
            </a:r>
            <a:endParaRPr lang="en-US" sz="1050" dirty="0"/>
          </a:p>
          <a:p>
            <a:pPr marL="342900" indent="-342900">
              <a:lnSpc>
                <a:spcPct val="145000"/>
              </a:lnSpc>
              <a:spcAft>
                <a:spcPts val="300"/>
              </a:spcAft>
              <a:buSzPct val="100000"/>
              <a:buChar char="•"/>
            </a:pPr>
            <a:r>
              <a:rPr lang="en-US" sz="1050" dirty="0">
                <a:solidFill>
                  <a:srgbClr val="333333"/>
                </a:solidFill>
                <a:latin typeface="Meiryo" pitchFamily="34" charset="0"/>
                <a:ea typeface="Meiryo" pitchFamily="34" charset="-122"/>
                <a:cs typeface="Meiryo" pitchFamily="34" charset="-120"/>
              </a:rPr>
              <a:t>④ 欲しい結果のために、明日のフォームを整えるアクションを1つ決める</a:t>
            </a:r>
            <a:endParaRPr lang="en-US" sz="1050" dirty="0"/>
          </a:p>
        </p:txBody>
      </p:sp>
      <p:sp>
        <p:nvSpPr>
          <p:cNvPr id="13" name="Shape 11"/>
          <p:cNvSpPr/>
          <p:nvPr/>
        </p:nvSpPr>
        <p:spPr>
          <a:xfrm>
            <a:off x="4754880" y="1188720"/>
            <a:ext cx="4069080" cy="3703320"/>
          </a:xfrm>
          <a:prstGeom prst="rect">
            <a:avLst/>
          </a:prstGeom>
          <a:solidFill>
            <a:srgbClr val="1A3A3A"/>
          </a:solidFill>
          <a:ln w="12700">
            <a:solidFill>
              <a:srgbClr val="1A3A3A"/>
            </a:solidFill>
            <a:prstDash val="solid"/>
          </a:ln>
        </p:spPr>
      </p:sp>
      <p:sp>
        <p:nvSpPr>
          <p:cNvPr id="14" name="Shape 12"/>
          <p:cNvSpPr/>
          <p:nvPr/>
        </p:nvSpPr>
        <p:spPr>
          <a:xfrm>
            <a:off x="4754880" y="1188720"/>
            <a:ext cx="4069080" cy="50292"/>
          </a:xfrm>
          <a:prstGeom prst="rect">
            <a:avLst/>
          </a:prstGeom>
          <a:solidFill>
            <a:srgbClr val="B8976A"/>
          </a:solidFill>
          <a:ln w="12700">
            <a:solidFill>
              <a:srgbClr val="B8976A"/>
            </a:solidFill>
            <a:prstDash val="solid"/>
          </a:ln>
        </p:spPr>
      </p:sp>
      <p:sp>
        <p:nvSpPr>
          <p:cNvPr id="15" name="Text 13"/>
          <p:cNvSpPr/>
          <p:nvPr/>
        </p:nvSpPr>
        <p:spPr>
          <a:xfrm>
            <a:off x="4919472" y="1280160"/>
            <a:ext cx="3794760" cy="301752"/>
          </a:xfrm>
          <a:prstGeom prst="rect">
            <a:avLst/>
          </a:prstGeom>
          <a:noFill/>
          <a:ln/>
        </p:spPr>
        <p:txBody>
          <a:bodyPr wrap="square" lIns="0" tIns="0" rIns="0" bIns="0" rtlCol="0" anchor="ctr"/>
          <a:lstStyle/>
          <a:p>
            <a:pPr indent="0" marL="0">
              <a:buNone/>
            </a:pPr>
            <a:r>
              <a:rPr lang="en-US" sz="1050" b="1" dirty="0">
                <a:solidFill>
                  <a:srgbClr val="B8976A"/>
                </a:solidFill>
                <a:latin typeface="Meiryo" pitchFamily="34" charset="0"/>
                <a:ea typeface="Meiryo" pitchFamily="34" charset="-122"/>
                <a:cs typeface="Meiryo" pitchFamily="34" charset="-120"/>
              </a:rPr>
              <a:t>なぜ効くのか</a:t>
            </a:r>
            <a:endParaRPr lang="en-US" sz="1050" dirty="0"/>
          </a:p>
        </p:txBody>
      </p:sp>
      <p:sp>
        <p:nvSpPr>
          <p:cNvPr id="16" name="Shape 14"/>
          <p:cNvSpPr/>
          <p:nvPr/>
        </p:nvSpPr>
        <p:spPr>
          <a:xfrm>
            <a:off x="4882896" y="1609344"/>
            <a:ext cx="3813048" cy="10973"/>
          </a:xfrm>
          <a:prstGeom prst="rect">
            <a:avLst/>
          </a:prstGeom>
          <a:solidFill>
            <a:srgbClr val="B8976A"/>
          </a:solidFill>
          <a:ln w="12700">
            <a:solidFill>
              <a:srgbClr val="B8976A"/>
            </a:solidFill>
            <a:prstDash val="solid"/>
          </a:ln>
        </p:spPr>
      </p:sp>
      <p:sp>
        <p:nvSpPr>
          <p:cNvPr id="17" name="Text 15"/>
          <p:cNvSpPr/>
          <p:nvPr/>
        </p:nvSpPr>
        <p:spPr>
          <a:xfrm>
            <a:off x="4919472" y="1682496"/>
            <a:ext cx="3776472" cy="3108960"/>
          </a:xfrm>
          <a:prstGeom prst="rect">
            <a:avLst/>
          </a:prstGeom>
          <a:noFill/>
          <a:ln/>
        </p:spPr>
        <p:txBody>
          <a:bodyPr wrap="square" lIns="0" tIns="0" rIns="0" bIns="0" rtlCol="0" anchor="t"/>
          <a:lstStyle/>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実行意図（Gollwitzer）：「いつ・どこで・何をするか」を前夜に決めた人は行動実現率が高まる</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ラベリング効果（Lieberman 2007）：体験を言葉にするだけで扁桃体の活動が下がり、前頭前野が働き始める</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メンタルリハーサル：成功場面を感情ごと鮮明に描くことはパフォーマンス向上に役立つ（Driskell等）</a:t>
            </a:r>
            <a:endParaRPr lang="en-US" sz="1050" dirty="0"/>
          </a:p>
          <a:p>
            <a:pPr marL="342900" indent="-342900">
              <a:lnSpc>
                <a:spcPct val="145000"/>
              </a:lnSpc>
              <a:spcAft>
                <a:spcPts val="300"/>
              </a:spcAft>
              <a:buSzPct val="100000"/>
              <a:buChar char="•"/>
            </a:pPr>
            <a:r>
              <a:rPr lang="en-US" sz="1050" dirty="0">
                <a:solidFill>
                  <a:srgbClr val="C8B89A"/>
                </a:solidFill>
                <a:latin typeface="Meiryo" pitchFamily="34" charset="0"/>
                <a:ea typeface="Meiryo" pitchFamily="34" charset="-122"/>
                <a:cs typeface="Meiryo" pitchFamily="34" charset="-120"/>
              </a:rPr>
              <a:t>フォームへの着目が「結果への過剰な執着」をやわらげ、自己効力感（Bandura）を育て大事な場面での安定につながる</a:t>
            </a:r>
            <a:endParaRPr lang="en-US" sz="1050" dirty="0"/>
          </a:p>
        </p:txBody>
      </p:sp>
      <p:sp>
        <p:nvSpPr>
          <p:cNvPr id="18" name="Text 16"/>
          <p:cNvSpPr/>
          <p:nvPr/>
        </p:nvSpPr>
        <p:spPr>
          <a:xfrm>
            <a:off x="6400800" y="4828032"/>
            <a:ext cx="2560320" cy="228600"/>
          </a:xfrm>
          <a:prstGeom prst="rect">
            <a:avLst/>
          </a:prstGeom>
          <a:noFill/>
          <a:ln/>
        </p:spPr>
        <p:txBody>
          <a:bodyPr wrap="square" lIns="0" tIns="0" rIns="0" bIns="0" rtlCol="0" anchor="ctr"/>
          <a:lstStyle/>
          <a:p>
            <a:pPr algn="r" indent="0" marL="0">
              <a:buNone/>
            </a:pPr>
            <a:r>
              <a:rPr lang="en-US" sz="800" dirty="0">
                <a:solidFill>
                  <a:srgbClr val="B8976A"/>
                </a:solidFill>
                <a:latin typeface="Meiryo" pitchFamily="34" charset="0"/>
                <a:ea typeface="Meiryo" pitchFamily="34" charset="-122"/>
                <a:cs typeface="Meiryo" pitchFamily="34" charset="-120"/>
              </a:rPr>
              <a:t>Na'au Noa  |  PILLAR 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3A"/>
          </a:solidFill>
          <a:ln w="12700">
            <a:solidFill>
              <a:srgbClr val="1A3A3A"/>
            </a:solidFill>
            <a:prstDash val="solid"/>
          </a:ln>
        </p:spPr>
      </p:sp>
      <p:sp>
        <p:nvSpPr>
          <p:cNvPr id="3" name="Text 1"/>
          <p:cNvSpPr/>
          <p:nvPr/>
        </p:nvSpPr>
        <p:spPr>
          <a:xfrm>
            <a:off x="365760" y="0"/>
            <a:ext cx="7315200" cy="658368"/>
          </a:xfrm>
          <a:prstGeom prst="rect">
            <a:avLst/>
          </a:prstGeom>
          <a:noFill/>
          <a:ln/>
        </p:spPr>
        <p:txBody>
          <a:bodyPr wrap="square" lIns="0" tIns="0" rIns="0" bIns="0" rtlCol="0" anchor="ctr"/>
          <a:lstStyle/>
          <a:p>
            <a:pPr indent="0" marL="0">
              <a:buNone/>
            </a:pPr>
            <a:r>
              <a:rPr lang="en-US" sz="1800" b="1" dirty="0">
                <a:solidFill>
                  <a:srgbClr val="FFFFFF"/>
                </a:solidFill>
                <a:latin typeface="MS Mincho" pitchFamily="34" charset="0"/>
                <a:ea typeface="MS Mincho" pitchFamily="34" charset="-122"/>
                <a:cs typeface="MS Mincho" pitchFamily="34" charset="-120"/>
              </a:rPr>
              <a:t>6つのピラーが生み出す相乗効果</a:t>
            </a:r>
            <a:endParaRPr lang="en-US" sz="1800" dirty="0"/>
          </a:p>
        </p:txBody>
      </p:sp>
      <p:sp>
        <p:nvSpPr>
          <p:cNvPr id="4" name="Text 2"/>
          <p:cNvSpPr/>
          <p:nvPr/>
        </p:nvSpPr>
        <p:spPr>
          <a:xfrm>
            <a:off x="6583680" y="0"/>
            <a:ext cx="2423160" cy="658368"/>
          </a:xfrm>
          <a:prstGeom prst="rect">
            <a:avLst/>
          </a:prstGeom>
          <a:noFill/>
          <a:ln/>
        </p:spPr>
        <p:txBody>
          <a:bodyPr wrap="square" lIns="0" tIns="0" rIns="0" bIns="0" rtlCol="0" anchor="ctr"/>
          <a:lstStyle/>
          <a:p>
            <a:pPr algn="r" indent="0" marL="0">
              <a:buNone/>
            </a:pPr>
            <a:r>
              <a:rPr lang="en-US" sz="800" dirty="0">
                <a:solidFill>
                  <a:srgbClr val="B8976A"/>
                </a:solidFill>
                <a:latin typeface="Meiryo" pitchFamily="34" charset="0"/>
                <a:ea typeface="Meiryo" pitchFamily="34" charset="-122"/>
                <a:cs typeface="Meiryo" pitchFamily="34" charset="-120"/>
              </a:rPr>
              <a:t>Na'au Noa | DAISUKE KOMATSU</a:t>
            </a:r>
            <a:endParaRPr lang="en-US" sz="800" dirty="0"/>
          </a:p>
        </p:txBody>
      </p:sp>
      <p:sp>
        <p:nvSpPr>
          <p:cNvPr id="5" name="Shape 3"/>
          <p:cNvSpPr/>
          <p:nvPr/>
        </p:nvSpPr>
        <p:spPr>
          <a:xfrm>
            <a:off x="0" y="658368"/>
            <a:ext cx="9144000" cy="36576"/>
          </a:xfrm>
          <a:prstGeom prst="rect">
            <a:avLst/>
          </a:prstGeom>
          <a:solidFill>
            <a:srgbClr val="B8976A"/>
          </a:solidFill>
          <a:ln w="12700">
            <a:solidFill>
              <a:srgbClr val="B8976A"/>
            </a:solidFill>
            <a:prstDash val="solid"/>
          </a:ln>
        </p:spPr>
      </p:sp>
      <p:sp>
        <p:nvSpPr>
          <p:cNvPr id="6" name="Text 4"/>
          <p:cNvSpPr/>
          <p:nvPr/>
        </p:nvSpPr>
        <p:spPr>
          <a:xfrm>
            <a:off x="320040" y="749808"/>
            <a:ext cx="8503920" cy="301752"/>
          </a:xfrm>
          <a:prstGeom prst="rect">
            <a:avLst/>
          </a:prstGeom>
          <a:noFill/>
          <a:ln/>
        </p:spPr>
        <p:txBody>
          <a:bodyPr wrap="square" lIns="0" tIns="0" rIns="0" bIns="0" rtlCol="0" anchor="ctr"/>
          <a:lstStyle/>
          <a:p>
            <a:pPr indent="0" marL="0">
              <a:buNone/>
            </a:pPr>
            <a:r>
              <a:rPr lang="en-US" sz="1050" dirty="0">
                <a:solidFill>
                  <a:srgbClr val="5A5A5A"/>
                </a:solidFill>
                <a:latin typeface="Meiryo" pitchFamily="34" charset="0"/>
                <a:ea typeface="Meiryo" pitchFamily="34" charset="-122"/>
                <a:cs typeface="Meiryo" pitchFamily="34" charset="-120"/>
              </a:rPr>
              <a:t>各ピラーは「バラバラな習慣」ではなく、3層の構造で互いに支え合っています。</a:t>
            </a:r>
            <a:endParaRPr lang="en-US" sz="1050" dirty="0"/>
          </a:p>
        </p:txBody>
      </p:sp>
      <p:sp>
        <p:nvSpPr>
          <p:cNvPr id="7" name="Shape 5"/>
          <p:cNvSpPr/>
          <p:nvPr/>
        </p:nvSpPr>
        <p:spPr>
          <a:xfrm>
            <a:off x="320040" y="1170432"/>
            <a:ext cx="2633472" cy="3493008"/>
          </a:xfrm>
          <a:prstGeom prst="rect">
            <a:avLst/>
          </a:prstGeom>
          <a:solidFill>
            <a:srgbClr val="0C2218"/>
          </a:solidFill>
          <a:ln w="10160">
            <a:solidFill>
              <a:srgbClr val="B8976A"/>
            </a:solidFill>
            <a:prstDash val="solid"/>
          </a:ln>
        </p:spPr>
      </p:sp>
      <p:sp>
        <p:nvSpPr>
          <p:cNvPr id="8" name="Shape 6"/>
          <p:cNvSpPr/>
          <p:nvPr/>
        </p:nvSpPr>
        <p:spPr>
          <a:xfrm>
            <a:off x="320040" y="1170432"/>
            <a:ext cx="2633472" cy="50292"/>
          </a:xfrm>
          <a:prstGeom prst="rect">
            <a:avLst/>
          </a:prstGeom>
          <a:solidFill>
            <a:srgbClr val="B8976A"/>
          </a:solidFill>
          <a:ln w="12700">
            <a:solidFill>
              <a:srgbClr val="B8976A"/>
            </a:solidFill>
            <a:prstDash val="solid"/>
          </a:ln>
        </p:spPr>
      </p:sp>
      <p:sp>
        <p:nvSpPr>
          <p:cNvPr id="9" name="Text 7"/>
          <p:cNvSpPr/>
          <p:nvPr/>
        </p:nvSpPr>
        <p:spPr>
          <a:xfrm>
            <a:off x="457200" y="1261872"/>
            <a:ext cx="2404872" cy="256032"/>
          </a:xfrm>
          <a:prstGeom prst="rect">
            <a:avLst/>
          </a:prstGeom>
          <a:noFill/>
          <a:ln/>
        </p:spPr>
        <p:txBody>
          <a:bodyPr wrap="square" lIns="0" tIns="0" rIns="0" bIns="0" rtlCol="0" anchor="ctr"/>
          <a:lstStyle/>
          <a:p>
            <a:pPr indent="0" marL="0">
              <a:buNone/>
            </a:pPr>
            <a:r>
              <a:rPr lang="en-US" sz="900" b="1" spc="200" kern="0" dirty="0">
                <a:solidFill>
                  <a:srgbClr val="B8976A"/>
                </a:solidFill>
                <a:latin typeface="Meiryo" pitchFamily="34" charset="0"/>
                <a:ea typeface="Meiryo" pitchFamily="34" charset="-122"/>
                <a:cs typeface="Meiryo" pitchFamily="34" charset="-120"/>
              </a:rPr>
              <a:t>層 1</a:t>
            </a:r>
            <a:endParaRPr lang="en-US" sz="900" dirty="0"/>
          </a:p>
        </p:txBody>
      </p:sp>
      <p:sp>
        <p:nvSpPr>
          <p:cNvPr id="10" name="Text 8"/>
          <p:cNvSpPr/>
          <p:nvPr/>
        </p:nvSpPr>
        <p:spPr>
          <a:xfrm>
            <a:off x="457200" y="1499616"/>
            <a:ext cx="2404872" cy="457200"/>
          </a:xfrm>
          <a:prstGeom prst="rect">
            <a:avLst/>
          </a:prstGeom>
          <a:noFill/>
          <a:ln/>
        </p:spPr>
        <p:txBody>
          <a:bodyPr wrap="square" lIns="0" tIns="0" rIns="0" bIns="0" rtlCol="0" anchor="ctr"/>
          <a:lstStyle/>
          <a:p>
            <a:pPr indent="0" marL="0">
              <a:buNone/>
            </a:pPr>
            <a:r>
              <a:rPr lang="en-US" sz="1500" b="1" dirty="0">
                <a:solidFill>
                  <a:srgbClr val="FFFFFF"/>
                </a:solidFill>
                <a:latin typeface="MS Mincho" pitchFamily="34" charset="0"/>
                <a:ea typeface="MS Mincho" pitchFamily="34" charset="-122"/>
                <a:cs typeface="MS Mincho" pitchFamily="34" charset="-120"/>
              </a:rPr>
              <a:t>神経系の土台</a:t>
            </a:r>
            <a:endParaRPr lang="en-US" sz="1500" dirty="0"/>
          </a:p>
        </p:txBody>
      </p:sp>
      <p:sp>
        <p:nvSpPr>
          <p:cNvPr id="11" name="Text 9"/>
          <p:cNvSpPr/>
          <p:nvPr/>
        </p:nvSpPr>
        <p:spPr>
          <a:xfrm>
            <a:off x="457200" y="1938528"/>
            <a:ext cx="2404872" cy="228600"/>
          </a:xfrm>
          <a:prstGeom prst="rect">
            <a:avLst/>
          </a:prstGeom>
          <a:noFill/>
          <a:ln/>
        </p:spPr>
        <p:txBody>
          <a:bodyPr wrap="square" lIns="0" tIns="0" rIns="0" bIns="0" rtlCol="0" anchor="ctr"/>
          <a:lstStyle/>
          <a:p>
            <a:pPr indent="0" marL="0">
              <a:buNone/>
            </a:pPr>
            <a:r>
              <a:rPr lang="en-US" sz="900" dirty="0">
                <a:solidFill>
                  <a:srgbClr val="B8976A"/>
                </a:solidFill>
                <a:latin typeface="Meiryo" pitchFamily="34" charset="0"/>
                <a:ea typeface="Meiryo" pitchFamily="34" charset="-122"/>
                <a:cs typeface="Meiryo" pitchFamily="34" charset="-120"/>
              </a:rPr>
              <a:t>Pillar 1 + 2 + 5</a:t>
            </a:r>
            <a:endParaRPr lang="en-US" sz="900" dirty="0"/>
          </a:p>
        </p:txBody>
      </p:sp>
      <p:sp>
        <p:nvSpPr>
          <p:cNvPr id="12" name="Shape 10"/>
          <p:cNvSpPr/>
          <p:nvPr/>
        </p:nvSpPr>
        <p:spPr>
          <a:xfrm>
            <a:off x="429768" y="2176272"/>
            <a:ext cx="2386584" cy="10973"/>
          </a:xfrm>
          <a:prstGeom prst="rect">
            <a:avLst/>
          </a:prstGeom>
          <a:solidFill>
            <a:srgbClr val="B8976A"/>
          </a:solidFill>
          <a:ln w="12700">
            <a:solidFill>
              <a:srgbClr val="B8976A"/>
            </a:solidFill>
            <a:prstDash val="solid"/>
          </a:ln>
        </p:spPr>
      </p:sp>
      <p:sp>
        <p:nvSpPr>
          <p:cNvPr id="13" name="Text 11"/>
          <p:cNvSpPr/>
          <p:nvPr/>
        </p:nvSpPr>
        <p:spPr>
          <a:xfrm>
            <a:off x="457200" y="2249424"/>
            <a:ext cx="2404872" cy="2286000"/>
          </a:xfrm>
          <a:prstGeom prst="rect">
            <a:avLst/>
          </a:prstGeom>
          <a:noFill/>
          <a:ln/>
        </p:spPr>
        <p:txBody>
          <a:bodyPr wrap="square" lIns="0" tIns="0" rIns="0" bIns="0" rtlCol="0" anchor="t"/>
          <a:lstStyle/>
          <a:p>
            <a:pPr indent="0" marL="0">
              <a:lnSpc>
                <a:spcPct val="160000"/>
              </a:lnSpc>
              <a:buNone/>
            </a:pPr>
            <a:r>
              <a:rPr lang="en-US" sz="1050" dirty="0">
                <a:solidFill>
                  <a:srgbClr val="B8A07A"/>
                </a:solidFill>
                <a:latin typeface="Meiryo" pitchFamily="34" charset="0"/>
                <a:ea typeface="Meiryo" pitchFamily="34" charset="-122"/>
                <a:cs typeface="Meiryo" pitchFamily="34" charset="-120"/>
              </a:rPr>
              <a:t>神経系の原料を食事で確保し（P1）、呼吸できる身体の構造を作り（P2）、体内リズムを毎朝整える（P5）。</a:t>
            </a:r>
            <a:endParaRPr lang="en-US" sz="1050" dirty="0"/>
          </a:p>
          <a:p>
            <a:pPr indent="0" marL="0">
              <a:lnSpc>
                <a:spcPct val="160000"/>
              </a:lnSpc>
              <a:buNone/>
            </a:pPr>
            <a:r>
              <a:rPr lang="en-US" sz="1050" dirty="0">
                <a:solidFill>
                  <a:srgbClr val="B8A07A"/>
                </a:solidFill>
                <a:latin typeface="Meiryo" pitchFamily="34" charset="0"/>
                <a:ea typeface="Meiryo" pitchFamily="34" charset="-122"/>
                <a:cs typeface="Meiryo" pitchFamily="34" charset="-120"/>
              </a:rPr>
              <a:t>この層が整っていないと、他の取り組みも「砂の上に建てた家」になりやすい。</a:t>
            </a:r>
            <a:endParaRPr lang="en-US" sz="1050" dirty="0"/>
          </a:p>
        </p:txBody>
      </p:sp>
      <p:sp>
        <p:nvSpPr>
          <p:cNvPr id="14" name="Text 12"/>
          <p:cNvSpPr/>
          <p:nvPr/>
        </p:nvSpPr>
        <p:spPr>
          <a:xfrm>
            <a:off x="2999232" y="2715768"/>
            <a:ext cx="256032" cy="402336"/>
          </a:xfrm>
          <a:prstGeom prst="rect">
            <a:avLst/>
          </a:prstGeom>
          <a:noFill/>
          <a:ln/>
        </p:spPr>
        <p:txBody>
          <a:bodyPr wrap="square" lIns="0" tIns="0" rIns="0" bIns="0" rtlCol="0" anchor="ctr"/>
          <a:lstStyle/>
          <a:p>
            <a:pPr algn="ctr" indent="0" marL="0">
              <a:buNone/>
            </a:pPr>
            <a:r>
              <a:rPr lang="en-US" sz="2000" dirty="0">
                <a:solidFill>
                  <a:srgbClr val="B8976A"/>
                </a:solidFill>
              </a:rPr>
              <a:t>→</a:t>
            </a:r>
            <a:endParaRPr lang="en-US" sz="2000" dirty="0"/>
          </a:p>
        </p:txBody>
      </p:sp>
      <p:sp>
        <p:nvSpPr>
          <p:cNvPr id="15" name="Shape 13"/>
          <p:cNvSpPr/>
          <p:nvPr/>
        </p:nvSpPr>
        <p:spPr>
          <a:xfrm>
            <a:off x="3255264" y="1170432"/>
            <a:ext cx="2633472" cy="3493008"/>
          </a:xfrm>
          <a:prstGeom prst="rect">
            <a:avLst/>
          </a:prstGeom>
          <a:solidFill>
            <a:srgbClr val="1A3A3A"/>
          </a:solidFill>
          <a:ln w="10160">
            <a:solidFill>
              <a:srgbClr val="B8976A"/>
            </a:solidFill>
            <a:prstDash val="solid"/>
          </a:ln>
        </p:spPr>
      </p:sp>
      <p:sp>
        <p:nvSpPr>
          <p:cNvPr id="16" name="Shape 14"/>
          <p:cNvSpPr/>
          <p:nvPr/>
        </p:nvSpPr>
        <p:spPr>
          <a:xfrm>
            <a:off x="3255264" y="1170432"/>
            <a:ext cx="2633472" cy="50292"/>
          </a:xfrm>
          <a:prstGeom prst="rect">
            <a:avLst/>
          </a:prstGeom>
          <a:solidFill>
            <a:srgbClr val="B8976A"/>
          </a:solidFill>
          <a:ln w="12700">
            <a:solidFill>
              <a:srgbClr val="B8976A"/>
            </a:solidFill>
            <a:prstDash val="solid"/>
          </a:ln>
        </p:spPr>
      </p:sp>
      <p:sp>
        <p:nvSpPr>
          <p:cNvPr id="17" name="Text 15"/>
          <p:cNvSpPr/>
          <p:nvPr/>
        </p:nvSpPr>
        <p:spPr>
          <a:xfrm>
            <a:off x="3392424" y="1261872"/>
            <a:ext cx="2404872" cy="256032"/>
          </a:xfrm>
          <a:prstGeom prst="rect">
            <a:avLst/>
          </a:prstGeom>
          <a:noFill/>
          <a:ln/>
        </p:spPr>
        <p:txBody>
          <a:bodyPr wrap="square" lIns="0" tIns="0" rIns="0" bIns="0" rtlCol="0" anchor="ctr"/>
          <a:lstStyle/>
          <a:p>
            <a:pPr indent="0" marL="0">
              <a:buNone/>
            </a:pPr>
            <a:r>
              <a:rPr lang="en-US" sz="900" b="1" spc="200" kern="0" dirty="0">
                <a:solidFill>
                  <a:srgbClr val="B8976A"/>
                </a:solidFill>
                <a:latin typeface="Meiryo" pitchFamily="34" charset="0"/>
                <a:ea typeface="Meiryo" pitchFamily="34" charset="-122"/>
                <a:cs typeface="Meiryo" pitchFamily="34" charset="-120"/>
              </a:rPr>
              <a:t>層 2</a:t>
            </a:r>
            <a:endParaRPr lang="en-US" sz="900" dirty="0"/>
          </a:p>
        </p:txBody>
      </p:sp>
      <p:sp>
        <p:nvSpPr>
          <p:cNvPr id="18" name="Text 16"/>
          <p:cNvSpPr/>
          <p:nvPr/>
        </p:nvSpPr>
        <p:spPr>
          <a:xfrm>
            <a:off x="3392424" y="1499616"/>
            <a:ext cx="2404872" cy="457200"/>
          </a:xfrm>
          <a:prstGeom prst="rect">
            <a:avLst/>
          </a:prstGeom>
          <a:noFill/>
          <a:ln/>
        </p:spPr>
        <p:txBody>
          <a:bodyPr wrap="square" lIns="0" tIns="0" rIns="0" bIns="0" rtlCol="0" anchor="ctr"/>
          <a:lstStyle/>
          <a:p>
            <a:pPr indent="0" marL="0">
              <a:buNone/>
            </a:pPr>
            <a:r>
              <a:rPr lang="en-US" sz="1500" b="1" dirty="0">
                <a:solidFill>
                  <a:srgbClr val="FFFFFF"/>
                </a:solidFill>
                <a:latin typeface="MS Mincho" pitchFamily="34" charset="0"/>
                <a:ea typeface="MS Mincho" pitchFamily="34" charset="-122"/>
                <a:cs typeface="MS Mincho" pitchFamily="34" charset="-120"/>
              </a:rPr>
              <a:t>自律神経のブレーキ</a:t>
            </a:r>
            <a:endParaRPr lang="en-US" sz="1500" dirty="0"/>
          </a:p>
        </p:txBody>
      </p:sp>
      <p:sp>
        <p:nvSpPr>
          <p:cNvPr id="19" name="Text 17"/>
          <p:cNvSpPr/>
          <p:nvPr/>
        </p:nvSpPr>
        <p:spPr>
          <a:xfrm>
            <a:off x="3392424" y="1938528"/>
            <a:ext cx="2404872" cy="228600"/>
          </a:xfrm>
          <a:prstGeom prst="rect">
            <a:avLst/>
          </a:prstGeom>
          <a:noFill/>
          <a:ln/>
        </p:spPr>
        <p:txBody>
          <a:bodyPr wrap="square" lIns="0" tIns="0" rIns="0" bIns="0" rtlCol="0" anchor="ctr"/>
          <a:lstStyle/>
          <a:p>
            <a:pPr indent="0" marL="0">
              <a:buNone/>
            </a:pPr>
            <a:r>
              <a:rPr lang="en-US" sz="900" dirty="0">
                <a:solidFill>
                  <a:srgbClr val="B8976A"/>
                </a:solidFill>
                <a:latin typeface="Meiryo" pitchFamily="34" charset="0"/>
                <a:ea typeface="Meiryo" pitchFamily="34" charset="-122"/>
                <a:cs typeface="Meiryo" pitchFamily="34" charset="-120"/>
              </a:rPr>
              <a:t>Pillar 2 + 3</a:t>
            </a:r>
            <a:endParaRPr lang="en-US" sz="900" dirty="0"/>
          </a:p>
        </p:txBody>
      </p:sp>
      <p:sp>
        <p:nvSpPr>
          <p:cNvPr id="20" name="Shape 18"/>
          <p:cNvSpPr/>
          <p:nvPr/>
        </p:nvSpPr>
        <p:spPr>
          <a:xfrm>
            <a:off x="3364992" y="2176272"/>
            <a:ext cx="2386584" cy="10973"/>
          </a:xfrm>
          <a:prstGeom prst="rect">
            <a:avLst/>
          </a:prstGeom>
          <a:solidFill>
            <a:srgbClr val="B8976A"/>
          </a:solidFill>
          <a:ln w="12700">
            <a:solidFill>
              <a:srgbClr val="B8976A"/>
            </a:solidFill>
            <a:prstDash val="solid"/>
          </a:ln>
        </p:spPr>
      </p:sp>
      <p:sp>
        <p:nvSpPr>
          <p:cNvPr id="21" name="Text 19"/>
          <p:cNvSpPr/>
          <p:nvPr/>
        </p:nvSpPr>
        <p:spPr>
          <a:xfrm>
            <a:off x="3392424" y="2249424"/>
            <a:ext cx="2404872" cy="2286000"/>
          </a:xfrm>
          <a:prstGeom prst="rect">
            <a:avLst/>
          </a:prstGeom>
          <a:noFill/>
          <a:ln/>
        </p:spPr>
        <p:txBody>
          <a:bodyPr wrap="square" lIns="0" tIns="0" rIns="0" bIns="0" rtlCol="0" anchor="t"/>
          <a:lstStyle/>
          <a:p>
            <a:pPr indent="0" marL="0">
              <a:lnSpc>
                <a:spcPct val="160000"/>
              </a:lnSpc>
              <a:buNone/>
            </a:pPr>
            <a:r>
              <a:rPr lang="en-US" sz="1050" dirty="0">
                <a:solidFill>
                  <a:srgbClr val="B8A07A"/>
                </a:solidFill>
                <a:latin typeface="Meiryo" pitchFamily="34" charset="0"/>
                <a:ea typeface="Meiryo" pitchFamily="34" charset="-122"/>
                <a:cs typeface="Meiryo" pitchFamily="34" charset="-120"/>
              </a:rPr>
              <a:t>P2で横隔膜呼吸ができる身体を作り、P3でそのブレーキ機能を毎日育てる。</a:t>
            </a:r>
            <a:endParaRPr lang="en-US" sz="1050" dirty="0"/>
          </a:p>
          <a:p>
            <a:pPr indent="0" marL="0">
              <a:lnSpc>
                <a:spcPct val="160000"/>
              </a:lnSpc>
              <a:buNone/>
            </a:pPr>
            <a:r>
              <a:rPr lang="en-US" sz="1050" dirty="0">
                <a:solidFill>
                  <a:srgbClr val="B8A07A"/>
                </a:solidFill>
                <a:latin typeface="Meiryo" pitchFamily="34" charset="0"/>
                <a:ea typeface="Meiryo" pitchFamily="34" charset="-122"/>
                <a:cs typeface="Meiryo" pitchFamily="34" charset="-120"/>
              </a:rPr>
              <a:t>大事な場面でも「落ち着いた状態」を選びやすくなる。本番直前は冷水洗顔で即時調整。</a:t>
            </a:r>
            <a:endParaRPr lang="en-US" sz="1050" dirty="0"/>
          </a:p>
        </p:txBody>
      </p:sp>
      <p:sp>
        <p:nvSpPr>
          <p:cNvPr id="22" name="Text 20"/>
          <p:cNvSpPr/>
          <p:nvPr/>
        </p:nvSpPr>
        <p:spPr>
          <a:xfrm>
            <a:off x="5934456" y="2715768"/>
            <a:ext cx="256032" cy="402336"/>
          </a:xfrm>
          <a:prstGeom prst="rect">
            <a:avLst/>
          </a:prstGeom>
          <a:noFill/>
          <a:ln/>
        </p:spPr>
        <p:txBody>
          <a:bodyPr wrap="square" lIns="0" tIns="0" rIns="0" bIns="0" rtlCol="0" anchor="ctr"/>
          <a:lstStyle/>
          <a:p>
            <a:pPr algn="ctr" indent="0" marL="0">
              <a:buNone/>
            </a:pPr>
            <a:r>
              <a:rPr lang="en-US" sz="2000" dirty="0">
                <a:solidFill>
                  <a:srgbClr val="B8976A"/>
                </a:solidFill>
              </a:rPr>
              <a:t>→</a:t>
            </a:r>
            <a:endParaRPr lang="en-US" sz="2000" dirty="0"/>
          </a:p>
        </p:txBody>
      </p:sp>
      <p:sp>
        <p:nvSpPr>
          <p:cNvPr id="23" name="Shape 21"/>
          <p:cNvSpPr/>
          <p:nvPr/>
        </p:nvSpPr>
        <p:spPr>
          <a:xfrm>
            <a:off x="6190488" y="1170432"/>
            <a:ext cx="2633472" cy="3493008"/>
          </a:xfrm>
          <a:prstGeom prst="rect">
            <a:avLst/>
          </a:prstGeom>
          <a:solidFill>
            <a:srgbClr val="0F2A20"/>
          </a:solidFill>
          <a:ln w="10160">
            <a:solidFill>
              <a:srgbClr val="B8976A"/>
            </a:solidFill>
            <a:prstDash val="solid"/>
          </a:ln>
        </p:spPr>
      </p:sp>
      <p:sp>
        <p:nvSpPr>
          <p:cNvPr id="24" name="Shape 22"/>
          <p:cNvSpPr/>
          <p:nvPr/>
        </p:nvSpPr>
        <p:spPr>
          <a:xfrm>
            <a:off x="6190488" y="1170432"/>
            <a:ext cx="2633472" cy="50292"/>
          </a:xfrm>
          <a:prstGeom prst="rect">
            <a:avLst/>
          </a:prstGeom>
          <a:solidFill>
            <a:srgbClr val="B8976A"/>
          </a:solidFill>
          <a:ln w="12700">
            <a:solidFill>
              <a:srgbClr val="B8976A"/>
            </a:solidFill>
            <a:prstDash val="solid"/>
          </a:ln>
        </p:spPr>
      </p:sp>
      <p:sp>
        <p:nvSpPr>
          <p:cNvPr id="25" name="Text 23"/>
          <p:cNvSpPr/>
          <p:nvPr/>
        </p:nvSpPr>
        <p:spPr>
          <a:xfrm>
            <a:off x="6327648" y="1261872"/>
            <a:ext cx="2404872" cy="256032"/>
          </a:xfrm>
          <a:prstGeom prst="rect">
            <a:avLst/>
          </a:prstGeom>
          <a:noFill/>
          <a:ln/>
        </p:spPr>
        <p:txBody>
          <a:bodyPr wrap="square" lIns="0" tIns="0" rIns="0" bIns="0" rtlCol="0" anchor="ctr"/>
          <a:lstStyle/>
          <a:p>
            <a:pPr indent="0" marL="0">
              <a:buNone/>
            </a:pPr>
            <a:r>
              <a:rPr lang="en-US" sz="900" b="1" spc="200" kern="0" dirty="0">
                <a:solidFill>
                  <a:srgbClr val="B8976A"/>
                </a:solidFill>
                <a:latin typeface="Meiryo" pitchFamily="34" charset="0"/>
                <a:ea typeface="Meiryo" pitchFamily="34" charset="-122"/>
                <a:cs typeface="Meiryo" pitchFamily="34" charset="-120"/>
              </a:rPr>
              <a:t>層 3</a:t>
            </a:r>
            <a:endParaRPr lang="en-US" sz="900" dirty="0"/>
          </a:p>
        </p:txBody>
      </p:sp>
      <p:sp>
        <p:nvSpPr>
          <p:cNvPr id="26" name="Text 24"/>
          <p:cNvSpPr/>
          <p:nvPr/>
        </p:nvSpPr>
        <p:spPr>
          <a:xfrm>
            <a:off x="6327648" y="1499616"/>
            <a:ext cx="2404872" cy="457200"/>
          </a:xfrm>
          <a:prstGeom prst="rect">
            <a:avLst/>
          </a:prstGeom>
          <a:noFill/>
          <a:ln/>
        </p:spPr>
        <p:txBody>
          <a:bodyPr wrap="square" lIns="0" tIns="0" rIns="0" bIns="0" rtlCol="0" anchor="ctr"/>
          <a:lstStyle/>
          <a:p>
            <a:pPr indent="0" marL="0">
              <a:buNone/>
            </a:pPr>
            <a:r>
              <a:rPr lang="en-US" sz="1500" b="1" dirty="0">
                <a:solidFill>
                  <a:srgbClr val="FFFFFF"/>
                </a:solidFill>
                <a:latin typeface="MS Mincho" pitchFamily="34" charset="0"/>
                <a:ea typeface="MS Mincho" pitchFamily="34" charset="-122"/>
                <a:cs typeface="MS Mincho" pitchFamily="34" charset="-120"/>
              </a:rPr>
              <a:t>記憶・感情の扱い直し</a:t>
            </a:r>
            <a:endParaRPr lang="en-US" sz="1500" dirty="0"/>
          </a:p>
        </p:txBody>
      </p:sp>
      <p:sp>
        <p:nvSpPr>
          <p:cNvPr id="27" name="Text 25"/>
          <p:cNvSpPr/>
          <p:nvPr/>
        </p:nvSpPr>
        <p:spPr>
          <a:xfrm>
            <a:off x="6327648" y="1938528"/>
            <a:ext cx="2404872" cy="228600"/>
          </a:xfrm>
          <a:prstGeom prst="rect">
            <a:avLst/>
          </a:prstGeom>
          <a:noFill/>
          <a:ln/>
        </p:spPr>
        <p:txBody>
          <a:bodyPr wrap="square" lIns="0" tIns="0" rIns="0" bIns="0" rtlCol="0" anchor="ctr"/>
          <a:lstStyle/>
          <a:p>
            <a:pPr indent="0" marL="0">
              <a:buNone/>
            </a:pPr>
            <a:r>
              <a:rPr lang="en-US" sz="900" dirty="0">
                <a:solidFill>
                  <a:srgbClr val="B8976A"/>
                </a:solidFill>
                <a:latin typeface="Meiryo" pitchFamily="34" charset="0"/>
                <a:ea typeface="Meiryo" pitchFamily="34" charset="-122"/>
                <a:cs typeface="Meiryo" pitchFamily="34" charset="-120"/>
              </a:rPr>
              <a:t>Pillar 4 + 6</a:t>
            </a:r>
            <a:endParaRPr lang="en-US" sz="900" dirty="0"/>
          </a:p>
        </p:txBody>
      </p:sp>
      <p:sp>
        <p:nvSpPr>
          <p:cNvPr id="28" name="Shape 26"/>
          <p:cNvSpPr/>
          <p:nvPr/>
        </p:nvSpPr>
        <p:spPr>
          <a:xfrm>
            <a:off x="6300216" y="2176272"/>
            <a:ext cx="2386584" cy="10973"/>
          </a:xfrm>
          <a:prstGeom prst="rect">
            <a:avLst/>
          </a:prstGeom>
          <a:solidFill>
            <a:srgbClr val="B8976A"/>
          </a:solidFill>
          <a:ln w="12700">
            <a:solidFill>
              <a:srgbClr val="B8976A"/>
            </a:solidFill>
            <a:prstDash val="solid"/>
          </a:ln>
        </p:spPr>
      </p:sp>
      <p:sp>
        <p:nvSpPr>
          <p:cNvPr id="29" name="Text 27"/>
          <p:cNvSpPr/>
          <p:nvPr/>
        </p:nvSpPr>
        <p:spPr>
          <a:xfrm>
            <a:off x="6327648" y="2249424"/>
            <a:ext cx="2404872" cy="2286000"/>
          </a:xfrm>
          <a:prstGeom prst="rect">
            <a:avLst/>
          </a:prstGeom>
          <a:noFill/>
          <a:ln/>
        </p:spPr>
        <p:txBody>
          <a:bodyPr wrap="square" lIns="0" tIns="0" rIns="0" bIns="0" rtlCol="0" anchor="t"/>
          <a:lstStyle/>
          <a:p>
            <a:pPr indent="0" marL="0">
              <a:lnSpc>
                <a:spcPct val="160000"/>
              </a:lnSpc>
              <a:buNone/>
            </a:pPr>
            <a:r>
              <a:rPr lang="en-US" sz="1050" dirty="0">
                <a:solidFill>
                  <a:srgbClr val="B8A07A"/>
                </a:solidFill>
                <a:latin typeface="Meiryo" pitchFamily="34" charset="0"/>
                <a:ea typeface="Meiryo" pitchFamily="34" charset="-122"/>
                <a:cs typeface="Meiryo" pitchFamily="34" charset="-120"/>
              </a:rPr>
              <a:t>P4で「この場面＝危険」という扁桃体の学習にアプローチし、P6で毎晩「今日のフォーム」を振り返り翌日の土台を仕込む。</a:t>
            </a:r>
            <a:endParaRPr lang="en-US" sz="1050" dirty="0"/>
          </a:p>
          <a:p>
            <a:pPr indent="0" marL="0">
              <a:lnSpc>
                <a:spcPct val="160000"/>
              </a:lnSpc>
              <a:buNone/>
            </a:pPr>
            <a:r>
              <a:rPr lang="en-US" sz="1050" dirty="0">
                <a:solidFill>
                  <a:srgbClr val="B8A07A"/>
                </a:solidFill>
                <a:latin typeface="Meiryo" pitchFamily="34" charset="0"/>
                <a:ea typeface="Meiryo" pitchFamily="34" charset="-122"/>
                <a:cs typeface="Meiryo" pitchFamily="34" charset="-120"/>
              </a:rPr>
              <a:t>神経系の反応パターンが日々アップデートされていく。</a:t>
            </a:r>
            <a:endParaRPr lang="en-US" sz="1050" dirty="0"/>
          </a:p>
        </p:txBody>
      </p:sp>
      <p:sp>
        <p:nvSpPr>
          <p:cNvPr id="30" name="Text 28"/>
          <p:cNvSpPr/>
          <p:nvPr/>
        </p:nvSpPr>
        <p:spPr>
          <a:xfrm>
            <a:off x="320040" y="4754880"/>
            <a:ext cx="8503920" cy="292608"/>
          </a:xfrm>
          <a:prstGeom prst="rect">
            <a:avLst/>
          </a:prstGeom>
          <a:noFill/>
          <a:ln/>
        </p:spPr>
        <p:txBody>
          <a:bodyPr wrap="square" lIns="0" tIns="0" rIns="0" bIns="0" rtlCol="0" anchor="ctr"/>
          <a:lstStyle/>
          <a:p>
            <a:pPr marL="342900" indent="-342900">
              <a:lnSpc>
                <a:spcPct val="130000"/>
              </a:lnSpc>
              <a:buSzPct val="100000"/>
              <a:buChar char="•"/>
            </a:pPr>
            <a:r>
              <a:rPr lang="en-US" sz="850" dirty="0">
                <a:solidFill>
                  <a:srgbClr val="5A5A5A"/>
                </a:solidFill>
                <a:latin typeface="Meiryo" pitchFamily="34" charset="0"/>
                <a:ea typeface="Meiryo" pitchFamily="34" charset="-122"/>
                <a:cs typeface="Meiryo" pitchFamily="34" charset="-120"/>
              </a:rPr>
              <a:t>土台（層1）が整うと P3（Ha呼吸・瞑想）の質が上がる</a:t>
            </a:r>
            <a:endParaRPr lang="en-US" sz="850" dirty="0"/>
          </a:p>
          <a:p>
            <a:pPr marL="342900" indent="-342900">
              <a:lnSpc>
                <a:spcPct val="130000"/>
              </a:lnSpc>
              <a:buSzPct val="100000"/>
              <a:buChar char="•"/>
            </a:pPr>
            <a:r>
              <a:rPr lang="en-US" sz="850" dirty="0">
                <a:solidFill>
                  <a:srgbClr val="5A5A5A"/>
                </a:solidFill>
                <a:latin typeface="Meiryo" pitchFamily="34" charset="0"/>
                <a:ea typeface="Meiryo" pitchFamily="34" charset="-122"/>
                <a:cs typeface="Meiryo" pitchFamily="34" charset="-120"/>
              </a:rPr>
              <a:t>P3で落ち着きが増すと P4（記憶・感情のワーク）が深く入りやすくなる</a:t>
            </a:r>
            <a:endParaRPr lang="en-US" sz="850" dirty="0"/>
          </a:p>
          <a:p>
            <a:pPr marL="342900" indent="-342900">
              <a:lnSpc>
                <a:spcPct val="130000"/>
              </a:lnSpc>
              <a:buSzPct val="100000"/>
              <a:buChar char="•"/>
            </a:pPr>
            <a:r>
              <a:rPr lang="en-US" sz="850" dirty="0">
                <a:solidFill>
                  <a:srgbClr val="5A5A5A"/>
                </a:solidFill>
                <a:latin typeface="Meiryo" pitchFamily="34" charset="0"/>
                <a:ea typeface="Meiryo" pitchFamily="34" charset="-122"/>
                <a:cs typeface="Meiryo" pitchFamily="34" charset="-120"/>
              </a:rPr>
              <a:t>P4で扁桃体の反応がやわらぐと P6での気づきの質が上がる</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3A3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8976A"/>
          </a:solidFill>
          <a:ln w="12700">
            <a:solidFill>
              <a:srgbClr val="B8976A"/>
            </a:solidFill>
            <a:prstDash val="solid"/>
          </a:ln>
        </p:spPr>
      </p:sp>
      <p:sp>
        <p:nvSpPr>
          <p:cNvPr id="3" name="Shape 1"/>
          <p:cNvSpPr/>
          <p:nvPr/>
        </p:nvSpPr>
        <p:spPr>
          <a:xfrm>
            <a:off x="0" y="5079492"/>
            <a:ext cx="9144000" cy="64008"/>
          </a:xfrm>
          <a:prstGeom prst="rect">
            <a:avLst/>
          </a:prstGeom>
          <a:solidFill>
            <a:srgbClr val="B8976A"/>
          </a:solidFill>
          <a:ln w="12700">
            <a:solidFill>
              <a:srgbClr val="B8976A"/>
            </a:solidFill>
            <a:prstDash val="solid"/>
          </a:ln>
        </p:spPr>
      </p:sp>
      <p:sp>
        <p:nvSpPr>
          <p:cNvPr id="4" name="Text 2"/>
          <p:cNvSpPr/>
          <p:nvPr/>
        </p:nvSpPr>
        <p:spPr>
          <a:xfrm>
            <a:off x="457200" y="822960"/>
            <a:ext cx="8229600" cy="658368"/>
          </a:xfrm>
          <a:prstGeom prst="rect">
            <a:avLst/>
          </a:prstGeom>
          <a:noFill/>
          <a:ln/>
        </p:spPr>
        <p:txBody>
          <a:bodyPr wrap="square" lIns="0" tIns="0" rIns="0" bIns="0" rtlCol="0" anchor="ctr"/>
          <a:lstStyle/>
          <a:p>
            <a:pPr algn="ctr" indent="0" marL="0">
              <a:buNone/>
            </a:pPr>
            <a:r>
              <a:rPr lang="en-US" sz="2000" b="1" dirty="0">
                <a:solidFill>
                  <a:srgbClr val="E8C080"/>
                </a:solidFill>
                <a:latin typeface="MS Mincho" pitchFamily="34" charset="0"/>
                <a:ea typeface="MS Mincho" pitchFamily="34" charset="-122"/>
                <a:cs typeface="MS Mincho" pitchFamily="34" charset="-120"/>
              </a:rPr>
              <a:t>これは「才能を増やす」プログラムではありません。</a:t>
            </a:r>
            <a:endParaRPr lang="en-US" sz="2000" dirty="0"/>
          </a:p>
        </p:txBody>
      </p:sp>
      <p:sp>
        <p:nvSpPr>
          <p:cNvPr id="5" name="Shape 3"/>
          <p:cNvSpPr/>
          <p:nvPr/>
        </p:nvSpPr>
        <p:spPr>
          <a:xfrm>
            <a:off x="2286000" y="1572768"/>
            <a:ext cx="4572000" cy="22860"/>
          </a:xfrm>
          <a:prstGeom prst="rect">
            <a:avLst/>
          </a:prstGeom>
          <a:solidFill>
            <a:srgbClr val="B8976A"/>
          </a:solidFill>
          <a:ln w="12700">
            <a:solidFill>
              <a:srgbClr val="B8976A"/>
            </a:solidFill>
            <a:prstDash val="solid"/>
          </a:ln>
        </p:spPr>
      </p:sp>
      <p:sp>
        <p:nvSpPr>
          <p:cNvPr id="6" name="Text 4"/>
          <p:cNvSpPr/>
          <p:nvPr/>
        </p:nvSpPr>
        <p:spPr>
          <a:xfrm>
            <a:off x="457200" y="1664208"/>
            <a:ext cx="8229600" cy="1371600"/>
          </a:xfrm>
          <a:prstGeom prst="rect">
            <a:avLst/>
          </a:prstGeom>
          <a:noFill/>
          <a:ln/>
        </p:spPr>
        <p:txBody>
          <a:bodyPr wrap="square" lIns="0" tIns="0" rIns="0" bIns="0" rtlCol="0" anchor="ctr"/>
          <a:lstStyle/>
          <a:p>
            <a:pPr algn="ctr" indent="0" marL="0">
              <a:lnSpc>
                <a:spcPct val="180000"/>
              </a:lnSpc>
              <a:buNone/>
            </a:pPr>
            <a:r>
              <a:rPr lang="en-US" sz="1900" dirty="0">
                <a:solidFill>
                  <a:srgbClr val="FFFFFF"/>
                </a:solidFill>
                <a:latin typeface="MS Mincho" pitchFamily="34" charset="0"/>
                <a:ea typeface="MS Mincho" pitchFamily="34" charset="-122"/>
                <a:cs typeface="MS Mincho" pitchFamily="34" charset="-120"/>
              </a:rPr>
              <a:t>もともとあるあなたの実力が、</a:t>
            </a:r>
            <a:endParaRPr lang="en-US" sz="1900" dirty="0"/>
          </a:p>
          <a:p>
            <a:pPr algn="ctr" indent="0" marL="0">
              <a:lnSpc>
                <a:spcPct val="180000"/>
              </a:lnSpc>
              <a:buNone/>
            </a:pPr>
            <a:r>
              <a:rPr lang="en-US" sz="1900" dirty="0">
                <a:solidFill>
                  <a:srgbClr val="FFFFFF"/>
                </a:solidFill>
                <a:latin typeface="MS Mincho" pitchFamily="34" charset="0"/>
                <a:ea typeface="MS Mincho" pitchFamily="34" charset="-122"/>
                <a:cs typeface="MS Mincho" pitchFamily="34" charset="-120"/>
              </a:rPr>
              <a:t>大事な場面で発揮できるようになるフォームを、</a:t>
            </a:r>
            <a:endParaRPr lang="en-US" sz="1900" dirty="0"/>
          </a:p>
          <a:p>
            <a:pPr algn="ctr" indent="0" marL="0">
              <a:lnSpc>
                <a:spcPct val="180000"/>
              </a:lnSpc>
              <a:buNone/>
            </a:pPr>
            <a:r>
              <a:rPr lang="en-US" sz="1900" dirty="0">
                <a:solidFill>
                  <a:srgbClr val="FFFFFF"/>
                </a:solidFill>
                <a:latin typeface="MS Mincho" pitchFamily="34" charset="0"/>
                <a:ea typeface="MS Mincho" pitchFamily="34" charset="-122"/>
                <a:cs typeface="MS Mincho" pitchFamily="34" charset="-120"/>
              </a:rPr>
              <a:t>6方向から同時に整えるプログラムです。</a:t>
            </a:r>
            <a:endParaRPr lang="en-US" sz="1900" dirty="0"/>
          </a:p>
        </p:txBody>
      </p:sp>
      <p:sp>
        <p:nvSpPr>
          <p:cNvPr id="7" name="Shape 5"/>
          <p:cNvSpPr/>
          <p:nvPr/>
        </p:nvSpPr>
        <p:spPr>
          <a:xfrm>
            <a:off x="1828800" y="3246120"/>
            <a:ext cx="5486400" cy="841248"/>
          </a:xfrm>
          <a:prstGeom prst="rect">
            <a:avLst/>
          </a:prstGeom>
          <a:solidFill>
            <a:srgbClr val="0F2A20"/>
          </a:solidFill>
          <a:ln w="15240">
            <a:solidFill>
              <a:srgbClr val="B8976A"/>
            </a:solidFill>
            <a:prstDash val="solid"/>
          </a:ln>
        </p:spPr>
      </p:sp>
      <p:sp>
        <p:nvSpPr>
          <p:cNvPr id="8" name="Text 6"/>
          <p:cNvSpPr/>
          <p:nvPr/>
        </p:nvSpPr>
        <p:spPr>
          <a:xfrm>
            <a:off x="1828800" y="3246120"/>
            <a:ext cx="5486400" cy="475488"/>
          </a:xfrm>
          <a:prstGeom prst="rect">
            <a:avLst/>
          </a:prstGeom>
          <a:noFill/>
          <a:ln/>
        </p:spPr>
        <p:txBody>
          <a:bodyPr wrap="square" lIns="0" tIns="0" rIns="0" bIns="0" rtlCol="0" anchor="ctr"/>
          <a:lstStyle/>
          <a:p>
            <a:pPr algn="ctr" indent="0" marL="0">
              <a:buNone/>
            </a:pPr>
            <a:r>
              <a:rPr lang="en-US" sz="1400" b="1" dirty="0">
                <a:solidFill>
                  <a:srgbClr val="E8C080"/>
                </a:solidFill>
                <a:latin typeface="MS Mincho" pitchFamily="34" charset="0"/>
                <a:ea typeface="MS Mincho" pitchFamily="34" charset="-122"/>
                <a:cs typeface="MS Mincho" pitchFamily="34" charset="-120"/>
              </a:rPr>
              <a:t>まずは無料個別相談からどうぞ</a:t>
            </a:r>
            <a:endParaRPr lang="en-US" sz="1400" dirty="0"/>
          </a:p>
        </p:txBody>
      </p:sp>
      <p:sp>
        <p:nvSpPr>
          <p:cNvPr id="9" name="Text 7"/>
          <p:cNvSpPr/>
          <p:nvPr/>
        </p:nvSpPr>
        <p:spPr>
          <a:xfrm>
            <a:off x="1828800" y="3657600"/>
            <a:ext cx="5486400" cy="384048"/>
          </a:xfrm>
          <a:prstGeom prst="rect">
            <a:avLst/>
          </a:prstGeom>
          <a:noFill/>
          <a:ln/>
        </p:spPr>
        <p:txBody>
          <a:bodyPr wrap="square" lIns="0" tIns="0" rIns="0" bIns="0" rtlCol="0" anchor="ctr"/>
          <a:lstStyle/>
          <a:p>
            <a:pPr algn="ctr" indent="0" marL="0">
              <a:buNone/>
            </a:pPr>
            <a:r>
              <a:rPr lang="en-US" sz="1100" dirty="0">
                <a:solidFill>
                  <a:srgbClr val="B8976A"/>
                </a:solidFill>
                <a:latin typeface="Meiryo" pitchFamily="34" charset="0"/>
                <a:ea typeface="Meiryo" pitchFamily="34" charset="-122"/>
                <a:cs typeface="Meiryo" pitchFamily="34" charset="-120"/>
              </a:rPr>
              <a:t>naau-noa.vercel.app</a:t>
            </a:r>
            <a:endParaRPr lang="en-US" sz="1100" dirty="0"/>
          </a:p>
        </p:txBody>
      </p:sp>
      <p:sp>
        <p:nvSpPr>
          <p:cNvPr id="10" name="Text 8"/>
          <p:cNvSpPr/>
          <p:nvPr/>
        </p:nvSpPr>
        <p:spPr>
          <a:xfrm>
            <a:off x="457200" y="4617720"/>
            <a:ext cx="8229600" cy="320040"/>
          </a:xfrm>
          <a:prstGeom prst="rect">
            <a:avLst/>
          </a:prstGeom>
          <a:noFill/>
          <a:ln/>
        </p:spPr>
        <p:txBody>
          <a:bodyPr wrap="square" lIns="0" tIns="0" rIns="0" bIns="0" rtlCol="0" anchor="ctr"/>
          <a:lstStyle/>
          <a:p>
            <a:pPr algn="ctr" indent="0" marL="0">
              <a:buNone/>
            </a:pPr>
            <a:r>
              <a:rPr lang="en-US" sz="1000" dirty="0">
                <a:solidFill>
                  <a:srgbClr val="B8976A"/>
                </a:solidFill>
                <a:latin typeface="Meiryo" pitchFamily="34" charset="0"/>
                <a:ea typeface="Meiryo" pitchFamily="34" charset="-122"/>
                <a:cs typeface="Meiryo" pitchFamily="34" charset="-120"/>
              </a:rPr>
              <a:t>Na'au Noa  |  小松 大将</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理想の結果を引き寄せる6つのフォーム</dc:title>
  <dc:subject>PptxGenJS Presentation</dc:subject>
  <dc:creator>Na'au Noa 小松大将</dc:creator>
  <cp:lastModifiedBy>Na'au Noa 小松大将</cp:lastModifiedBy>
  <cp:revision>1</cp:revision>
  <dcterms:created xsi:type="dcterms:W3CDTF">2026-06-14T00:06:07Z</dcterms:created>
  <dcterms:modified xsi:type="dcterms:W3CDTF">2026-06-14T00:06:07Z</dcterms:modified>
</cp:coreProperties>
</file>